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</p:sldIdLst>
  <p:sldSz cy="6858000" cx="12192000"/>
  <p:notesSz cx="6888150" cy="10020300"/>
  <p:embeddedFontLst>
    <p:embeddedFont>
      <p:font typeface="Merriweather"/>
      <p:regular r:id="rId8"/>
      <p:bold r:id="rId9"/>
      <p:italic r:id="rId10"/>
      <p:boldItalic r:id="rId1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2" roundtripDataSignature="AMtx7mhL4Q/nnquwKV0V9SFzCtmAzkIxC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1" Type="http://schemas.openxmlformats.org/officeDocument/2006/relationships/font" Target="fonts/Merriweather-boldItalic.fntdata"/><Relationship Id="rId10" Type="http://schemas.openxmlformats.org/officeDocument/2006/relationships/font" Target="fonts/Merriweather-italic.fntdata"/><Relationship Id="rId12" Type="http://customschemas.google.com/relationships/presentationmetadata" Target="metadata"/><Relationship Id="rId9" Type="http://schemas.openxmlformats.org/officeDocument/2006/relationships/font" Target="fonts/Merriweather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font" Target="fonts/Merriweather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8250" y="751500"/>
            <a:ext cx="4592325" cy="37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8800" y="4759625"/>
            <a:ext cx="5510500" cy="45091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:notes"/>
          <p:cNvSpPr txBox="1"/>
          <p:nvPr>
            <p:ph idx="1" type="body"/>
          </p:nvPr>
        </p:nvSpPr>
        <p:spPr>
          <a:xfrm>
            <a:off x="688800" y="4759625"/>
            <a:ext cx="5510500" cy="45091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:notes"/>
          <p:cNvSpPr/>
          <p:nvPr>
            <p:ph idx="2" type="sldImg"/>
          </p:nvPr>
        </p:nvSpPr>
        <p:spPr>
          <a:xfrm>
            <a:off x="1148250" y="751500"/>
            <a:ext cx="4592325" cy="37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:notes"/>
          <p:cNvSpPr txBox="1"/>
          <p:nvPr>
            <p:ph idx="1" type="body"/>
          </p:nvPr>
        </p:nvSpPr>
        <p:spPr>
          <a:xfrm>
            <a:off x="688800" y="4759625"/>
            <a:ext cx="5510500" cy="45091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3:notes"/>
          <p:cNvSpPr/>
          <p:nvPr>
            <p:ph idx="2" type="sldImg"/>
          </p:nvPr>
        </p:nvSpPr>
        <p:spPr>
          <a:xfrm>
            <a:off x="1148250" y="751500"/>
            <a:ext cx="4592325" cy="37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4:notes"/>
          <p:cNvSpPr txBox="1"/>
          <p:nvPr>
            <p:ph idx="1" type="body"/>
          </p:nvPr>
        </p:nvSpPr>
        <p:spPr>
          <a:xfrm>
            <a:off x="688800" y="4759625"/>
            <a:ext cx="5510500" cy="45091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4:notes"/>
          <p:cNvSpPr/>
          <p:nvPr>
            <p:ph idx="2" type="sldImg"/>
          </p:nvPr>
        </p:nvSpPr>
        <p:spPr>
          <a:xfrm>
            <a:off x="1148250" y="751500"/>
            <a:ext cx="4592325" cy="37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6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6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-U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объект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-U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раздела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8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8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-U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Два объекта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9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9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-U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равнение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0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0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0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0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-U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олько заголовок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-U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стой слайд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-U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бъект с подписью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3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3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-U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исунок с подписью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4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4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-U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вертикальный текст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-U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Вертикальный заголовок и текст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-U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-U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www.alibaba.com/product-detail/WT-200s-Upgraded-RC-Tank-Chassis_1600196836647.html" TargetMode="External"/><Relationship Id="rId4" Type="http://schemas.openxmlformats.org/officeDocument/2006/relationships/hyperlink" Target="https://www.alibaba.com/product-detail/WT-200s-Upgraded-RC-Tank-Chassis_1600196836647.html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"/>
          <p:cNvSpPr/>
          <p:nvPr/>
        </p:nvSpPr>
        <p:spPr>
          <a:xfrm rot="-1953794">
            <a:off x="2314506" y="2609886"/>
            <a:ext cx="8916216" cy="423194"/>
          </a:xfrm>
          <a:prstGeom prst="rect">
            <a:avLst/>
          </a:prstGeom>
          <a:solidFill>
            <a:srgbClr val="AEABA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2"/>
          <p:cNvSpPr/>
          <p:nvPr/>
        </p:nvSpPr>
        <p:spPr>
          <a:xfrm>
            <a:off x="623200" y="5466394"/>
            <a:ext cx="1804626" cy="39873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2"/>
          <p:cNvSpPr/>
          <p:nvPr/>
        </p:nvSpPr>
        <p:spPr>
          <a:xfrm>
            <a:off x="6724027" y="4276874"/>
            <a:ext cx="5243119" cy="790077"/>
          </a:xfrm>
          <a:custGeom>
            <a:rect b="b" l="l" r="r" t="t"/>
            <a:pathLst>
              <a:path extrusionOk="0" h="1124125" w="4462943">
                <a:moveTo>
                  <a:pt x="0" y="0"/>
                </a:moveTo>
                <a:lnTo>
                  <a:pt x="4097626" y="8389"/>
                </a:lnTo>
                <a:lnTo>
                  <a:pt x="4462943" y="1124125"/>
                </a:lnTo>
                <a:lnTo>
                  <a:pt x="0" y="1124125"/>
                </a:lnTo>
                <a:lnTo>
                  <a:pt x="0" y="0"/>
                </a:lnTo>
                <a:close/>
              </a:path>
            </a:pathLst>
          </a:custGeom>
          <a:solidFill>
            <a:srgbClr val="BBD6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7" name="Google Shape;87;p2"/>
          <p:cNvCxnSpPr/>
          <p:nvPr/>
        </p:nvCxnSpPr>
        <p:spPr>
          <a:xfrm>
            <a:off x="465170" y="6616876"/>
            <a:ext cx="11450972" cy="0"/>
          </a:xfrm>
          <a:prstGeom prst="straightConnector1">
            <a:avLst/>
          </a:prstGeom>
          <a:noFill/>
          <a:ln cap="flat" cmpd="sng" w="9525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8" name="Google Shape;88;p2"/>
          <p:cNvSpPr/>
          <p:nvPr/>
        </p:nvSpPr>
        <p:spPr>
          <a:xfrm>
            <a:off x="6724027" y="5066951"/>
            <a:ext cx="5243119" cy="376112"/>
          </a:xfrm>
          <a:custGeom>
            <a:rect b="b" l="l" r="r" t="t"/>
            <a:pathLst>
              <a:path extrusionOk="0" h="935129" w="4462943">
                <a:moveTo>
                  <a:pt x="0" y="0"/>
                </a:moveTo>
                <a:lnTo>
                  <a:pt x="4462943" y="0"/>
                </a:lnTo>
                <a:lnTo>
                  <a:pt x="4161531" y="935129"/>
                </a:lnTo>
                <a:lnTo>
                  <a:pt x="468841" y="914399"/>
                </a:lnTo>
                <a:lnTo>
                  <a:pt x="0" y="0"/>
                </a:lnTo>
                <a:close/>
              </a:path>
            </a:pathLst>
          </a:custGeom>
          <a:solidFill>
            <a:srgbClr val="BBD6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2"/>
          <p:cNvSpPr/>
          <p:nvPr/>
        </p:nvSpPr>
        <p:spPr>
          <a:xfrm>
            <a:off x="6396857" y="4588777"/>
            <a:ext cx="956344" cy="956344"/>
          </a:xfrm>
          <a:prstGeom prst="ellipse">
            <a:avLst/>
          </a:prstGeom>
          <a:solidFill>
            <a:srgbClr val="AEABAB"/>
          </a:solidFill>
          <a:ln cap="flat" cmpd="tri" w="349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2"/>
          <p:cNvSpPr/>
          <p:nvPr/>
        </p:nvSpPr>
        <p:spPr>
          <a:xfrm>
            <a:off x="11203749" y="4588777"/>
            <a:ext cx="956344" cy="956344"/>
          </a:xfrm>
          <a:prstGeom prst="ellipse">
            <a:avLst/>
          </a:prstGeom>
          <a:solidFill>
            <a:srgbClr val="AEABAB"/>
          </a:solidFill>
          <a:ln cap="flat" cmpd="tri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2"/>
          <p:cNvSpPr/>
          <p:nvPr/>
        </p:nvSpPr>
        <p:spPr>
          <a:xfrm>
            <a:off x="7462258" y="6140741"/>
            <a:ext cx="453004" cy="453004"/>
          </a:xfrm>
          <a:prstGeom prst="ellipse">
            <a:avLst/>
          </a:prstGeom>
          <a:solidFill>
            <a:srgbClr val="AEABAB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2"/>
          <p:cNvSpPr/>
          <p:nvPr/>
        </p:nvSpPr>
        <p:spPr>
          <a:xfrm>
            <a:off x="8168331" y="6140743"/>
            <a:ext cx="453004" cy="453004"/>
          </a:xfrm>
          <a:prstGeom prst="ellipse">
            <a:avLst/>
          </a:prstGeom>
          <a:solidFill>
            <a:srgbClr val="AEABAB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2"/>
          <p:cNvSpPr/>
          <p:nvPr/>
        </p:nvSpPr>
        <p:spPr>
          <a:xfrm>
            <a:off x="8874404" y="6140739"/>
            <a:ext cx="453004" cy="453004"/>
          </a:xfrm>
          <a:prstGeom prst="ellipse">
            <a:avLst/>
          </a:prstGeom>
          <a:solidFill>
            <a:srgbClr val="AEABAB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2"/>
          <p:cNvSpPr/>
          <p:nvPr/>
        </p:nvSpPr>
        <p:spPr>
          <a:xfrm>
            <a:off x="9580477" y="6140737"/>
            <a:ext cx="453004" cy="453004"/>
          </a:xfrm>
          <a:prstGeom prst="ellipse">
            <a:avLst/>
          </a:prstGeom>
          <a:solidFill>
            <a:srgbClr val="AEABAB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2"/>
          <p:cNvSpPr/>
          <p:nvPr/>
        </p:nvSpPr>
        <p:spPr>
          <a:xfrm>
            <a:off x="10286550" y="6140739"/>
            <a:ext cx="453004" cy="453004"/>
          </a:xfrm>
          <a:prstGeom prst="ellipse">
            <a:avLst/>
          </a:prstGeom>
          <a:solidFill>
            <a:srgbClr val="AEABAB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2"/>
          <p:cNvSpPr/>
          <p:nvPr/>
        </p:nvSpPr>
        <p:spPr>
          <a:xfrm>
            <a:off x="10983914" y="6140735"/>
            <a:ext cx="453004" cy="453004"/>
          </a:xfrm>
          <a:prstGeom prst="ellipse">
            <a:avLst/>
          </a:prstGeom>
          <a:solidFill>
            <a:srgbClr val="AEABAB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7" name="Google Shape;97;p2"/>
          <p:cNvCxnSpPr/>
          <p:nvPr/>
        </p:nvCxnSpPr>
        <p:spPr>
          <a:xfrm>
            <a:off x="6517660" y="5383986"/>
            <a:ext cx="1049439" cy="1208961"/>
          </a:xfrm>
          <a:prstGeom prst="straightConnector1">
            <a:avLst/>
          </a:prstGeom>
          <a:noFill/>
          <a:ln cap="flat" cmpd="tri" w="444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8" name="Google Shape;98;p2"/>
          <p:cNvCxnSpPr/>
          <p:nvPr/>
        </p:nvCxnSpPr>
        <p:spPr>
          <a:xfrm flipH="1">
            <a:off x="11332077" y="5247893"/>
            <a:ext cx="780807" cy="1346880"/>
          </a:xfrm>
          <a:prstGeom prst="straightConnector1">
            <a:avLst/>
          </a:prstGeom>
          <a:noFill/>
          <a:ln cap="flat" cmpd="tri" w="444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9" name="Google Shape;99;p2"/>
          <p:cNvCxnSpPr/>
          <p:nvPr/>
        </p:nvCxnSpPr>
        <p:spPr>
          <a:xfrm>
            <a:off x="7565125" y="6583932"/>
            <a:ext cx="3785286" cy="14726"/>
          </a:xfrm>
          <a:prstGeom prst="straightConnector1">
            <a:avLst/>
          </a:prstGeom>
          <a:noFill/>
          <a:ln cap="flat" cmpd="tri" w="444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0" name="Google Shape;100;p2"/>
          <p:cNvCxnSpPr>
            <a:stCxn id="89" idx="0"/>
            <a:endCxn id="90" idx="0"/>
          </p:cNvCxnSpPr>
          <p:nvPr/>
        </p:nvCxnSpPr>
        <p:spPr>
          <a:xfrm>
            <a:off x="6875029" y="4588777"/>
            <a:ext cx="4806900" cy="0"/>
          </a:xfrm>
          <a:prstGeom prst="straightConnector1">
            <a:avLst/>
          </a:prstGeom>
          <a:noFill/>
          <a:ln cap="flat" cmpd="tri" w="444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1" name="Google Shape;101;p2"/>
          <p:cNvCxnSpPr/>
          <p:nvPr/>
        </p:nvCxnSpPr>
        <p:spPr>
          <a:xfrm>
            <a:off x="8725521" y="5443063"/>
            <a:ext cx="0" cy="1154872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cxnSp>
        <p:nvCxnSpPr>
          <p:cNvPr id="102" name="Google Shape;102;p2"/>
          <p:cNvCxnSpPr/>
          <p:nvPr/>
        </p:nvCxnSpPr>
        <p:spPr>
          <a:xfrm>
            <a:off x="8725521" y="4285277"/>
            <a:ext cx="0" cy="1154872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sp>
        <p:nvSpPr>
          <p:cNvPr id="103" name="Google Shape;103;p2"/>
          <p:cNvSpPr/>
          <p:nvPr/>
        </p:nvSpPr>
        <p:spPr>
          <a:xfrm>
            <a:off x="8691529" y="5804036"/>
            <a:ext cx="1595019" cy="25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Ground clearance - 65 mm</a:t>
            </a:r>
            <a:endParaRPr/>
          </a:p>
        </p:txBody>
      </p:sp>
      <p:sp>
        <p:nvSpPr>
          <p:cNvPr id="104" name="Google Shape;104;p2"/>
          <p:cNvSpPr/>
          <p:nvPr/>
        </p:nvSpPr>
        <p:spPr>
          <a:xfrm>
            <a:off x="8668903" y="4781631"/>
            <a:ext cx="2432989" cy="25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Chassis body height - 65 mm</a:t>
            </a:r>
            <a:endParaRPr sz="14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5" name="Google Shape;105;p2"/>
          <p:cNvCxnSpPr>
            <a:stCxn id="86" idx="1"/>
          </p:cNvCxnSpPr>
          <p:nvPr/>
        </p:nvCxnSpPr>
        <p:spPr>
          <a:xfrm rot="10800000">
            <a:off x="6603267" y="4275870"/>
            <a:ext cx="4934700" cy="6900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6" name="Google Shape;106;p2"/>
          <p:cNvSpPr/>
          <p:nvPr/>
        </p:nvSpPr>
        <p:spPr>
          <a:xfrm>
            <a:off x="6714931" y="2836757"/>
            <a:ext cx="1518720" cy="1439083"/>
          </a:xfrm>
          <a:custGeom>
            <a:rect b="b" l="l" r="r" t="t"/>
            <a:pathLst>
              <a:path extrusionOk="0" h="1439083" w="1646723">
                <a:moveTo>
                  <a:pt x="606391" y="0"/>
                </a:moveTo>
                <a:lnTo>
                  <a:pt x="1646723" y="0"/>
                </a:lnTo>
                <a:lnTo>
                  <a:pt x="1646723" y="1439083"/>
                </a:lnTo>
                <a:lnTo>
                  <a:pt x="0" y="1439083"/>
                </a:lnTo>
                <a:lnTo>
                  <a:pt x="606391" y="0"/>
                </a:lnTo>
                <a:close/>
              </a:path>
            </a:pathLst>
          </a:custGeom>
          <a:solidFill>
            <a:srgbClr val="7F6000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7" name="Google Shape;107;p2"/>
          <p:cNvGrpSpPr/>
          <p:nvPr/>
        </p:nvGrpSpPr>
        <p:grpSpPr>
          <a:xfrm>
            <a:off x="7313972" y="2059806"/>
            <a:ext cx="775937" cy="775069"/>
            <a:chOff x="8243612" y="2059806"/>
            <a:chExt cx="775937" cy="775069"/>
          </a:xfrm>
        </p:grpSpPr>
        <p:sp>
          <p:nvSpPr>
            <p:cNvPr id="108" name="Google Shape;108;p2"/>
            <p:cNvSpPr/>
            <p:nvPr/>
          </p:nvSpPr>
          <p:spPr>
            <a:xfrm>
              <a:off x="8243612" y="2261938"/>
              <a:ext cx="775937" cy="572937"/>
            </a:xfrm>
            <a:custGeom>
              <a:rect b="b" l="l" r="r" t="t"/>
              <a:pathLst>
                <a:path extrusionOk="0" h="572937" w="775937">
                  <a:moveTo>
                    <a:pt x="188119" y="0"/>
                  </a:moveTo>
                  <a:lnTo>
                    <a:pt x="611630" y="0"/>
                  </a:lnTo>
                  <a:lnTo>
                    <a:pt x="775937" y="572936"/>
                  </a:lnTo>
                  <a:lnTo>
                    <a:pt x="0" y="572937"/>
                  </a:lnTo>
                  <a:lnTo>
                    <a:pt x="188119" y="0"/>
                  </a:lnTo>
                  <a:close/>
                </a:path>
              </a:pathLst>
            </a:custGeom>
            <a:solidFill>
              <a:srgbClr val="548135">
                <a:alpha val="8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8431731" y="2059806"/>
              <a:ext cx="423511" cy="400839"/>
            </a:xfrm>
            <a:prstGeom prst="donut">
              <a:avLst>
                <a:gd fmla="val 25000" name="adj"/>
              </a:avLst>
            </a:prstGeom>
            <a:solidFill>
              <a:srgbClr val="548135">
                <a:alpha val="8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0" name="Google Shape;110;p2"/>
          <p:cNvSpPr/>
          <p:nvPr/>
        </p:nvSpPr>
        <p:spPr>
          <a:xfrm>
            <a:off x="8638267" y="2159878"/>
            <a:ext cx="207169" cy="209653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2"/>
          <p:cNvSpPr/>
          <p:nvPr/>
        </p:nvSpPr>
        <p:spPr>
          <a:xfrm rot="-1942923">
            <a:off x="3238930" y="4109355"/>
            <a:ext cx="2033198" cy="643119"/>
          </a:xfrm>
          <a:prstGeom prst="rect">
            <a:avLst/>
          </a:prstGeom>
          <a:solidFill>
            <a:srgbClr val="7F6000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2" name="Google Shape;112;p2"/>
          <p:cNvGrpSpPr/>
          <p:nvPr/>
        </p:nvGrpSpPr>
        <p:grpSpPr>
          <a:xfrm>
            <a:off x="2551691" y="4921666"/>
            <a:ext cx="2638607" cy="665401"/>
            <a:chOff x="3391763" y="5166803"/>
            <a:chExt cx="1963658" cy="689570"/>
          </a:xfrm>
        </p:grpSpPr>
        <p:sp>
          <p:nvSpPr>
            <p:cNvPr id="113" name="Google Shape;113;p2"/>
            <p:cNvSpPr/>
            <p:nvPr/>
          </p:nvSpPr>
          <p:spPr>
            <a:xfrm>
              <a:off x="3391763" y="5166803"/>
              <a:ext cx="847622" cy="398738"/>
            </a:xfrm>
            <a:prstGeom prst="roundRect">
              <a:avLst>
                <a:gd fmla="val 16667" name="adj"/>
              </a:avLst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" name="Google Shape;114;p2"/>
            <p:cNvSpPr/>
            <p:nvPr/>
          </p:nvSpPr>
          <p:spPr>
            <a:xfrm>
              <a:off x="3495110" y="5457635"/>
              <a:ext cx="1860311" cy="398738"/>
            </a:xfrm>
            <a:prstGeom prst="roundRect">
              <a:avLst>
                <a:gd fmla="val 16667" name="adj"/>
              </a:avLst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-UA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Magnetic coil </a:t>
              </a:r>
              <a:endPara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-UA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(in the "reverse" position)</a:t>
              </a:r>
              <a:endParaRPr/>
            </a:p>
          </p:txBody>
        </p:sp>
      </p:grpSp>
      <p:sp>
        <p:nvSpPr>
          <p:cNvPr id="115" name="Google Shape;115;p2"/>
          <p:cNvSpPr/>
          <p:nvPr/>
        </p:nvSpPr>
        <p:spPr>
          <a:xfrm rot="-1942923">
            <a:off x="2070014" y="4610896"/>
            <a:ext cx="3112502" cy="45201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2"/>
          <p:cNvSpPr/>
          <p:nvPr/>
        </p:nvSpPr>
        <p:spPr>
          <a:xfrm>
            <a:off x="1983426" y="5383986"/>
            <a:ext cx="587820" cy="587820"/>
          </a:xfrm>
          <a:custGeom>
            <a:rect b="b" l="l" r="r" t="t"/>
            <a:pathLst>
              <a:path extrusionOk="0" h="587820" w="587820">
                <a:moveTo>
                  <a:pt x="293910" y="0"/>
                </a:moveTo>
                <a:cubicBezTo>
                  <a:pt x="314200" y="0"/>
                  <a:pt x="334010" y="2056"/>
                  <a:pt x="353143" y="5971"/>
                </a:cubicBezTo>
                <a:lnTo>
                  <a:pt x="395704" y="19183"/>
                </a:lnTo>
                <a:lnTo>
                  <a:pt x="389428" y="50270"/>
                </a:lnTo>
                <a:cubicBezTo>
                  <a:pt x="389428" y="129145"/>
                  <a:pt x="453368" y="193085"/>
                  <a:pt x="532243" y="193085"/>
                </a:cubicBezTo>
                <a:lnTo>
                  <a:pt x="566774" y="186114"/>
                </a:lnTo>
                <a:lnTo>
                  <a:pt x="581849" y="234677"/>
                </a:lnTo>
                <a:cubicBezTo>
                  <a:pt x="585764" y="253810"/>
                  <a:pt x="587820" y="273620"/>
                  <a:pt x="587820" y="293910"/>
                </a:cubicBezTo>
                <a:cubicBezTo>
                  <a:pt x="587820" y="314200"/>
                  <a:pt x="585764" y="334010"/>
                  <a:pt x="581849" y="353143"/>
                </a:cubicBezTo>
                <a:lnTo>
                  <a:pt x="565182" y="406837"/>
                </a:lnTo>
                <a:lnTo>
                  <a:pt x="530511" y="399837"/>
                </a:lnTo>
                <a:cubicBezTo>
                  <a:pt x="451636" y="399837"/>
                  <a:pt x="387696" y="463777"/>
                  <a:pt x="387696" y="542652"/>
                </a:cubicBezTo>
                <a:lnTo>
                  <a:pt x="393105" y="569444"/>
                </a:lnTo>
                <a:lnTo>
                  <a:pt x="353143" y="581849"/>
                </a:lnTo>
                <a:cubicBezTo>
                  <a:pt x="334010" y="585764"/>
                  <a:pt x="314200" y="587820"/>
                  <a:pt x="293910" y="587820"/>
                </a:cubicBezTo>
                <a:cubicBezTo>
                  <a:pt x="273620" y="587820"/>
                  <a:pt x="253810" y="585764"/>
                  <a:pt x="234677" y="581849"/>
                </a:cubicBezTo>
                <a:lnTo>
                  <a:pt x="204258" y="572406"/>
                </a:lnTo>
                <a:lnTo>
                  <a:pt x="210660" y="540696"/>
                </a:lnTo>
                <a:cubicBezTo>
                  <a:pt x="210660" y="461821"/>
                  <a:pt x="146720" y="397881"/>
                  <a:pt x="67845" y="397881"/>
                </a:cubicBezTo>
                <a:lnTo>
                  <a:pt x="22689" y="406998"/>
                </a:lnTo>
                <a:lnTo>
                  <a:pt x="5971" y="353143"/>
                </a:lnTo>
                <a:cubicBezTo>
                  <a:pt x="2056" y="334010"/>
                  <a:pt x="0" y="314200"/>
                  <a:pt x="0" y="293910"/>
                </a:cubicBezTo>
                <a:cubicBezTo>
                  <a:pt x="0" y="273620"/>
                  <a:pt x="2056" y="253810"/>
                  <a:pt x="5971" y="234677"/>
                </a:cubicBezTo>
                <a:lnTo>
                  <a:pt x="22443" y="181613"/>
                </a:lnTo>
                <a:lnTo>
                  <a:pt x="69577" y="191129"/>
                </a:lnTo>
                <a:cubicBezTo>
                  <a:pt x="148452" y="191129"/>
                  <a:pt x="212392" y="127189"/>
                  <a:pt x="212392" y="48314"/>
                </a:cubicBezTo>
                <a:lnTo>
                  <a:pt x="205662" y="14978"/>
                </a:lnTo>
                <a:lnTo>
                  <a:pt x="234677" y="5971"/>
                </a:lnTo>
                <a:cubicBezTo>
                  <a:pt x="253810" y="2056"/>
                  <a:pt x="273620" y="0"/>
                  <a:pt x="293910" y="0"/>
                </a:cubicBezTo>
                <a:close/>
              </a:path>
            </a:pathLst>
          </a:custGeom>
          <a:solidFill>
            <a:schemeClr val="dk1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7" name="Google Shape;117;p2"/>
          <p:cNvGrpSpPr/>
          <p:nvPr/>
        </p:nvGrpSpPr>
        <p:grpSpPr>
          <a:xfrm>
            <a:off x="8066270" y="3675906"/>
            <a:ext cx="1643232" cy="714103"/>
            <a:chOff x="7969546" y="3675906"/>
            <a:chExt cx="1643232" cy="714103"/>
          </a:xfrm>
        </p:grpSpPr>
        <p:sp>
          <p:nvSpPr>
            <p:cNvPr id="118" name="Google Shape;118;p2"/>
            <p:cNvSpPr/>
            <p:nvPr/>
          </p:nvSpPr>
          <p:spPr>
            <a:xfrm>
              <a:off x="8965251" y="3675906"/>
              <a:ext cx="647527" cy="714103"/>
            </a:xfrm>
            <a:prstGeom prst="blockArc">
              <a:avLst>
                <a:gd fmla="val 16180307" name="adj1"/>
                <a:gd fmla="val 0" name="adj2"/>
                <a:gd fmla="val 25000" name="adj3"/>
              </a:avLst>
            </a:prstGeom>
            <a:solidFill>
              <a:srgbClr val="AEABA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" name="Google Shape;119;p2"/>
            <p:cNvSpPr/>
            <p:nvPr/>
          </p:nvSpPr>
          <p:spPr>
            <a:xfrm rot="-5400000">
              <a:off x="8002834" y="3644207"/>
              <a:ext cx="647527" cy="714103"/>
            </a:xfrm>
            <a:prstGeom prst="blockArc">
              <a:avLst>
                <a:gd fmla="val 16017243" name="adj1"/>
                <a:gd fmla="val 0" name="adj2"/>
                <a:gd fmla="val 25000" name="adj3"/>
              </a:avLst>
            </a:prstGeom>
            <a:solidFill>
              <a:srgbClr val="AEABA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" name="Google Shape;120;p2"/>
            <p:cNvSpPr/>
            <p:nvPr/>
          </p:nvSpPr>
          <p:spPr>
            <a:xfrm>
              <a:off x="8316686" y="3676722"/>
              <a:ext cx="979689" cy="160874"/>
            </a:xfrm>
            <a:prstGeom prst="rect">
              <a:avLst/>
            </a:prstGeom>
            <a:solidFill>
              <a:srgbClr val="AEABA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" name="Google Shape;121;p2"/>
            <p:cNvSpPr/>
            <p:nvPr/>
          </p:nvSpPr>
          <p:spPr>
            <a:xfrm>
              <a:off x="9455555" y="4028656"/>
              <a:ext cx="157141" cy="250382"/>
            </a:xfrm>
            <a:prstGeom prst="rect">
              <a:avLst/>
            </a:prstGeom>
            <a:solidFill>
              <a:srgbClr val="AEABA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" name="Google Shape;122;p2"/>
            <p:cNvSpPr/>
            <p:nvPr/>
          </p:nvSpPr>
          <p:spPr>
            <a:xfrm>
              <a:off x="7969547" y="4003828"/>
              <a:ext cx="161596" cy="277240"/>
            </a:xfrm>
            <a:prstGeom prst="rect">
              <a:avLst/>
            </a:prstGeom>
            <a:solidFill>
              <a:srgbClr val="AEABA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3" name="Google Shape;123;p2"/>
          <p:cNvGrpSpPr/>
          <p:nvPr/>
        </p:nvGrpSpPr>
        <p:grpSpPr>
          <a:xfrm>
            <a:off x="-1051" y="4781631"/>
            <a:ext cx="1879646" cy="1835245"/>
            <a:chOff x="679273" y="4781631"/>
            <a:chExt cx="1879646" cy="1835245"/>
          </a:xfrm>
        </p:grpSpPr>
        <p:sp>
          <p:nvSpPr>
            <p:cNvPr id="124" name="Google Shape;124;p2"/>
            <p:cNvSpPr/>
            <p:nvPr/>
          </p:nvSpPr>
          <p:spPr>
            <a:xfrm>
              <a:off x="679273" y="4781631"/>
              <a:ext cx="1879646" cy="1835245"/>
            </a:xfrm>
            <a:prstGeom prst="donut">
              <a:avLst>
                <a:gd fmla="val 25000" name="adj"/>
              </a:avLst>
            </a:prstGeom>
            <a:solidFill>
              <a:schemeClr val="dk1"/>
            </a:solidFill>
            <a:ln cap="flat" cmpd="sng" w="1270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" name="Google Shape;125;p2"/>
            <p:cNvSpPr/>
            <p:nvPr/>
          </p:nvSpPr>
          <p:spPr>
            <a:xfrm>
              <a:off x="1120713" y="5233851"/>
              <a:ext cx="983782" cy="915593"/>
            </a:xfrm>
            <a:prstGeom prst="ellipse">
              <a:avLst/>
            </a:prstGeom>
            <a:solidFill>
              <a:srgbClr val="AEABAB"/>
            </a:solidFill>
            <a:ln cap="flat" cmpd="sng" w="1270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" name="Google Shape;126;p2"/>
            <p:cNvSpPr/>
            <p:nvPr/>
          </p:nvSpPr>
          <p:spPr>
            <a:xfrm>
              <a:off x="1486618" y="5270809"/>
              <a:ext cx="279148" cy="279148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" name="Google Shape;127;p2"/>
            <p:cNvSpPr/>
            <p:nvPr/>
          </p:nvSpPr>
          <p:spPr>
            <a:xfrm>
              <a:off x="1479522" y="5848892"/>
              <a:ext cx="279148" cy="279148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" name="Google Shape;128;p2"/>
            <p:cNvSpPr/>
            <p:nvPr/>
          </p:nvSpPr>
          <p:spPr>
            <a:xfrm>
              <a:off x="1143994" y="5567751"/>
              <a:ext cx="279148" cy="279148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" name="Google Shape;129;p2"/>
            <p:cNvSpPr/>
            <p:nvPr/>
          </p:nvSpPr>
          <p:spPr>
            <a:xfrm>
              <a:off x="1814000" y="5567751"/>
              <a:ext cx="279148" cy="279148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" name="Google Shape;130;p2"/>
            <p:cNvSpPr/>
            <p:nvPr/>
          </p:nvSpPr>
          <p:spPr>
            <a:xfrm>
              <a:off x="1528526" y="5596762"/>
              <a:ext cx="204328" cy="204982"/>
            </a:xfrm>
            <a:prstGeom prst="noSmoking">
              <a:avLst>
                <a:gd fmla="val 18750" name="adj"/>
              </a:avLst>
            </a:prstGeom>
            <a:solidFill>
              <a:schemeClr val="accent1"/>
            </a:solidFill>
            <a:ln cap="flat" cmpd="sng" w="1270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1" name="Google Shape;131;p2"/>
          <p:cNvSpPr/>
          <p:nvPr/>
        </p:nvSpPr>
        <p:spPr>
          <a:xfrm>
            <a:off x="4614810" y="4056905"/>
            <a:ext cx="204328" cy="204982"/>
          </a:xfrm>
          <a:prstGeom prst="noSmoking">
            <a:avLst>
              <a:gd fmla="val 18750" name="adj"/>
            </a:avLst>
          </a:prstGeom>
          <a:solidFill>
            <a:schemeClr val="accent1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2"/>
          <p:cNvSpPr/>
          <p:nvPr/>
        </p:nvSpPr>
        <p:spPr>
          <a:xfrm>
            <a:off x="3533956" y="4715762"/>
            <a:ext cx="204328" cy="204982"/>
          </a:xfrm>
          <a:prstGeom prst="noSmoking">
            <a:avLst>
              <a:gd fmla="val 18750" name="adj"/>
            </a:avLst>
          </a:prstGeom>
          <a:solidFill>
            <a:schemeClr val="accent1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2"/>
          <p:cNvSpPr/>
          <p:nvPr/>
        </p:nvSpPr>
        <p:spPr>
          <a:xfrm>
            <a:off x="7605892" y="2142342"/>
            <a:ext cx="204328" cy="204982"/>
          </a:xfrm>
          <a:prstGeom prst="noSmoking">
            <a:avLst>
              <a:gd fmla="val 18750" name="adj"/>
            </a:avLst>
          </a:prstGeom>
          <a:solidFill>
            <a:schemeClr val="accent1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4" name="Google Shape;134;p2"/>
          <p:cNvCxnSpPr/>
          <p:nvPr/>
        </p:nvCxnSpPr>
        <p:spPr>
          <a:xfrm>
            <a:off x="3357994" y="5567751"/>
            <a:ext cx="0" cy="1056863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sp>
        <p:nvSpPr>
          <p:cNvPr id="135" name="Google Shape;135;p2"/>
          <p:cNvSpPr/>
          <p:nvPr/>
        </p:nvSpPr>
        <p:spPr>
          <a:xfrm>
            <a:off x="2167289" y="5586210"/>
            <a:ext cx="204328" cy="204982"/>
          </a:xfrm>
          <a:prstGeom prst="noSmoking">
            <a:avLst>
              <a:gd fmla="val 18750" name="adj"/>
            </a:avLst>
          </a:prstGeom>
          <a:solidFill>
            <a:schemeClr val="accent1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6" name="Google Shape;136;p2"/>
          <p:cNvCxnSpPr/>
          <p:nvPr/>
        </p:nvCxnSpPr>
        <p:spPr>
          <a:xfrm flipH="1" rot="10800000">
            <a:off x="8233438" y="2829344"/>
            <a:ext cx="2097358" cy="7413"/>
          </a:xfrm>
          <a:prstGeom prst="straightConnector1">
            <a:avLst/>
          </a:prstGeom>
          <a:noFill/>
          <a:ln cap="flat" cmpd="sng" w="9525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7" name="Google Shape;137;p2"/>
          <p:cNvCxnSpPr/>
          <p:nvPr/>
        </p:nvCxnSpPr>
        <p:spPr>
          <a:xfrm>
            <a:off x="9864254" y="2830699"/>
            <a:ext cx="0" cy="1452071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sp>
        <p:nvSpPr>
          <p:cNvPr id="138" name="Google Shape;138;p2"/>
          <p:cNvSpPr/>
          <p:nvPr/>
        </p:nvSpPr>
        <p:spPr>
          <a:xfrm>
            <a:off x="9839040" y="3515207"/>
            <a:ext cx="752147" cy="2167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135</a:t>
            </a:r>
            <a:endParaRPr/>
          </a:p>
        </p:txBody>
      </p:sp>
      <p:cxnSp>
        <p:nvCxnSpPr>
          <p:cNvPr id="139" name="Google Shape;139;p2"/>
          <p:cNvCxnSpPr/>
          <p:nvPr/>
        </p:nvCxnSpPr>
        <p:spPr>
          <a:xfrm flipH="1">
            <a:off x="6708498" y="1795244"/>
            <a:ext cx="27662" cy="4829370"/>
          </a:xfrm>
          <a:prstGeom prst="straightConnector1">
            <a:avLst/>
          </a:prstGeom>
          <a:noFill/>
          <a:ln cap="flat" cmpd="sng" w="9525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0" name="Google Shape;140;p2"/>
          <p:cNvCxnSpPr>
            <a:endCxn id="141" idx="2"/>
          </p:cNvCxnSpPr>
          <p:nvPr/>
        </p:nvCxnSpPr>
        <p:spPr>
          <a:xfrm flipH="1" rot="10800000">
            <a:off x="6736088" y="1904157"/>
            <a:ext cx="524700" cy="51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cxnSp>
        <p:nvCxnSpPr>
          <p:cNvPr id="142" name="Google Shape;142;p2"/>
          <p:cNvCxnSpPr/>
          <p:nvPr/>
        </p:nvCxnSpPr>
        <p:spPr>
          <a:xfrm flipH="1">
            <a:off x="8231273" y="1001974"/>
            <a:ext cx="12500" cy="5101451"/>
          </a:xfrm>
          <a:prstGeom prst="straightConnector1">
            <a:avLst/>
          </a:prstGeom>
          <a:noFill/>
          <a:ln cap="flat" cmpd="sng" w="9525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3" name="Google Shape;143;p2"/>
          <p:cNvCxnSpPr/>
          <p:nvPr/>
        </p:nvCxnSpPr>
        <p:spPr>
          <a:xfrm>
            <a:off x="7254117" y="1122873"/>
            <a:ext cx="1006434" cy="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cxnSp>
        <p:nvCxnSpPr>
          <p:cNvPr id="144" name="Google Shape;144;p2"/>
          <p:cNvCxnSpPr/>
          <p:nvPr/>
        </p:nvCxnSpPr>
        <p:spPr>
          <a:xfrm>
            <a:off x="348902" y="4028656"/>
            <a:ext cx="274298" cy="752974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45" name="Google Shape;145;p2"/>
          <p:cNvSpPr/>
          <p:nvPr/>
        </p:nvSpPr>
        <p:spPr>
          <a:xfrm>
            <a:off x="54656" y="3240018"/>
            <a:ext cx="3354652" cy="81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Protective roller of 4 wheels on 1 shaft (to protect the magnetic coil from collision with obstacles and to adjust the angle of the pivot rod in accordance with changes in the terrain)</a:t>
            </a:r>
            <a:endParaRPr/>
          </a:p>
        </p:txBody>
      </p:sp>
      <p:cxnSp>
        <p:nvCxnSpPr>
          <p:cNvPr id="146" name="Google Shape;146;p2"/>
          <p:cNvCxnSpPr>
            <a:stCxn id="147" idx="1"/>
          </p:cNvCxnSpPr>
          <p:nvPr/>
        </p:nvCxnSpPr>
        <p:spPr>
          <a:xfrm flipH="1">
            <a:off x="7985000" y="1038646"/>
            <a:ext cx="2843100" cy="14010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47" name="Google Shape;147;p2"/>
          <p:cNvSpPr/>
          <p:nvPr/>
        </p:nvSpPr>
        <p:spPr>
          <a:xfrm>
            <a:off x="10828100" y="643607"/>
            <a:ext cx="1083747" cy="7900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Steel bracket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(mine detector holder)</a:t>
            </a:r>
            <a:endParaRPr/>
          </a:p>
        </p:txBody>
      </p:sp>
      <p:sp>
        <p:nvSpPr>
          <p:cNvPr id="148" name="Google Shape;148;p2"/>
          <p:cNvSpPr/>
          <p:nvPr/>
        </p:nvSpPr>
        <p:spPr>
          <a:xfrm>
            <a:off x="44494" y="136989"/>
            <a:ext cx="3632607" cy="20671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Self-propelled automatic mine detector "Patsyuk-2".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The structure consists of prefabricated units: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Arial"/>
              <a:buChar char="•"/>
            </a:pPr>
            <a:r>
              <a:rPr lang="uk-UA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tracked self-propelled </a:t>
            </a:r>
            <a:r>
              <a:rPr lang="uk-UA" sz="1200" u="sng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chassis </a:t>
            </a:r>
            <a:r>
              <a:rPr lang="uk-UA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with radio control and autonomous control using GPS (</a:t>
            </a:r>
            <a:r>
              <a:rPr lang="uk-UA" sz="1200" u="sng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Wt-200s Upgraded Rc Tank Chassis Metal Track Tank Load 30kg Shock Absorber (ready To Use Version) - Buy Metal Track Tank,Rc Tank Product on Alibaba.com</a:t>
            </a:r>
            <a:r>
              <a:rPr lang="uk-UA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);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Arial"/>
              <a:buChar char="•"/>
            </a:pPr>
            <a:r>
              <a:rPr lang="uk-UA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 hand-held mine detector mounted on the chassis, non-rotating, but with the ability to change the angle of inclination in accordance with the terrain.</a:t>
            </a:r>
            <a:endParaRPr/>
          </a:p>
        </p:txBody>
      </p:sp>
      <p:sp>
        <p:nvSpPr>
          <p:cNvPr id="141" name="Google Shape;141;p2"/>
          <p:cNvSpPr/>
          <p:nvPr/>
        </p:nvSpPr>
        <p:spPr>
          <a:xfrm>
            <a:off x="6875029" y="1653047"/>
            <a:ext cx="771519" cy="25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14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9" name="Google Shape;149;p2"/>
          <p:cNvGrpSpPr/>
          <p:nvPr/>
        </p:nvGrpSpPr>
        <p:grpSpPr>
          <a:xfrm>
            <a:off x="5039912" y="2518242"/>
            <a:ext cx="1873569" cy="1639768"/>
            <a:chOff x="5969552" y="2518242"/>
            <a:chExt cx="1873569" cy="1639768"/>
          </a:xfrm>
        </p:grpSpPr>
        <p:sp>
          <p:nvSpPr>
            <p:cNvPr id="150" name="Google Shape;150;p2"/>
            <p:cNvSpPr/>
            <p:nvPr/>
          </p:nvSpPr>
          <p:spPr>
            <a:xfrm rot="-7310368">
              <a:off x="6188618" y="3002104"/>
              <a:ext cx="896971" cy="1014578"/>
            </a:xfrm>
            <a:prstGeom prst="trapezoid">
              <a:avLst>
                <a:gd fmla="val 25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" name="Google Shape;151;p2"/>
            <p:cNvSpPr/>
            <p:nvPr/>
          </p:nvSpPr>
          <p:spPr>
            <a:xfrm rot="-7319032">
              <a:off x="6863875" y="2771650"/>
              <a:ext cx="938924" cy="615704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52" name="Google Shape;152;p2"/>
          <p:cNvCxnSpPr/>
          <p:nvPr/>
        </p:nvCxnSpPr>
        <p:spPr>
          <a:xfrm>
            <a:off x="2277336" y="6173349"/>
            <a:ext cx="4431162" cy="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cxnSp>
        <p:nvCxnSpPr>
          <p:cNvPr id="153" name="Google Shape;153;p2"/>
          <p:cNvCxnSpPr/>
          <p:nvPr/>
        </p:nvCxnSpPr>
        <p:spPr>
          <a:xfrm flipH="1">
            <a:off x="2274765" y="5739177"/>
            <a:ext cx="8662" cy="844755"/>
          </a:xfrm>
          <a:prstGeom prst="straightConnector1">
            <a:avLst/>
          </a:prstGeom>
          <a:noFill/>
          <a:ln cap="flat" cmpd="sng" w="9525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54" name="Google Shape;154;p2"/>
          <p:cNvSpPr/>
          <p:nvPr/>
        </p:nvSpPr>
        <p:spPr>
          <a:xfrm>
            <a:off x="4350646" y="6103425"/>
            <a:ext cx="783766" cy="3266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300</a:t>
            </a:r>
            <a:endParaRPr sz="14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2"/>
          <p:cNvSpPr/>
          <p:nvPr/>
        </p:nvSpPr>
        <p:spPr>
          <a:xfrm>
            <a:off x="3315422" y="5856776"/>
            <a:ext cx="452347" cy="25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50</a:t>
            </a:r>
            <a:endParaRPr sz="14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"/>
          <p:cNvSpPr/>
          <p:nvPr/>
        </p:nvSpPr>
        <p:spPr>
          <a:xfrm>
            <a:off x="7588144" y="862639"/>
            <a:ext cx="365585" cy="25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70</a:t>
            </a:r>
            <a:endParaRPr sz="14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7" name="Google Shape;157;p2"/>
          <p:cNvCxnSpPr/>
          <p:nvPr/>
        </p:nvCxnSpPr>
        <p:spPr>
          <a:xfrm>
            <a:off x="4614810" y="3240018"/>
            <a:ext cx="888368" cy="1415872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58" name="Google Shape;158;p2"/>
          <p:cNvSpPr/>
          <p:nvPr/>
        </p:nvSpPr>
        <p:spPr>
          <a:xfrm>
            <a:off x="5345763" y="4323599"/>
            <a:ext cx="452347" cy="25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30</a:t>
            </a:r>
            <a:endParaRPr sz="14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9" name="Google Shape;159;p2"/>
          <p:cNvCxnSpPr/>
          <p:nvPr/>
        </p:nvCxnSpPr>
        <p:spPr>
          <a:xfrm>
            <a:off x="4614809" y="3240018"/>
            <a:ext cx="247997" cy="408444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60" name="Google Shape;160;p2"/>
          <p:cNvCxnSpPr/>
          <p:nvPr/>
        </p:nvCxnSpPr>
        <p:spPr>
          <a:xfrm rot="10800000">
            <a:off x="5206445" y="4192782"/>
            <a:ext cx="281602" cy="432261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61" name="Google Shape;161;p2"/>
          <p:cNvCxnSpPr/>
          <p:nvPr/>
        </p:nvCxnSpPr>
        <p:spPr>
          <a:xfrm>
            <a:off x="7265433" y="1038646"/>
            <a:ext cx="0" cy="3248359"/>
          </a:xfrm>
          <a:prstGeom prst="straightConnector1">
            <a:avLst/>
          </a:prstGeom>
          <a:noFill/>
          <a:ln cap="flat" cmpd="sng" w="9525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62" name="Google Shape;162;p2"/>
          <p:cNvCxnSpPr/>
          <p:nvPr/>
        </p:nvCxnSpPr>
        <p:spPr>
          <a:xfrm>
            <a:off x="6708498" y="5882361"/>
            <a:ext cx="1535275" cy="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sp>
        <p:nvSpPr>
          <p:cNvPr id="163" name="Google Shape;163;p2"/>
          <p:cNvSpPr/>
          <p:nvPr/>
        </p:nvSpPr>
        <p:spPr>
          <a:xfrm>
            <a:off x="7254117" y="5625555"/>
            <a:ext cx="783766" cy="3266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90</a:t>
            </a:r>
            <a:endParaRPr sz="14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4" name="Google Shape;164;p2"/>
          <p:cNvCxnSpPr/>
          <p:nvPr/>
        </p:nvCxnSpPr>
        <p:spPr>
          <a:xfrm flipH="1">
            <a:off x="8250589" y="2279796"/>
            <a:ext cx="1628116" cy="757238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65" name="Google Shape;165;p2"/>
          <p:cNvSpPr/>
          <p:nvPr/>
        </p:nvSpPr>
        <p:spPr>
          <a:xfrm>
            <a:off x="9853538" y="1871929"/>
            <a:ext cx="1927900" cy="7342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Wooden pole (B) for steel bracket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(mine detector holder) - </a:t>
            </a:r>
            <a:r>
              <a:rPr lang="uk-UA" sz="1200" u="sng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to be manufactured</a:t>
            </a:r>
            <a:endParaRPr/>
          </a:p>
        </p:txBody>
      </p:sp>
      <p:cxnSp>
        <p:nvCxnSpPr>
          <p:cNvPr id="166" name="Google Shape;166;p2"/>
          <p:cNvCxnSpPr/>
          <p:nvPr/>
        </p:nvCxnSpPr>
        <p:spPr>
          <a:xfrm>
            <a:off x="3636120" y="2671595"/>
            <a:ext cx="765612" cy="126451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67" name="Google Shape;167;p2"/>
          <p:cNvSpPr/>
          <p:nvPr/>
        </p:nvSpPr>
        <p:spPr>
          <a:xfrm>
            <a:off x="3411819" y="1953459"/>
            <a:ext cx="1776980" cy="65267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Wooden tunnel cover (A) for the tripod rod of the mine detector - </a:t>
            </a:r>
            <a:r>
              <a:rPr lang="uk-UA" sz="1200" u="sng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to be made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"/>
          <p:cNvSpPr/>
          <p:nvPr/>
        </p:nvSpPr>
        <p:spPr>
          <a:xfrm>
            <a:off x="3729396" y="3206773"/>
            <a:ext cx="6430541" cy="7249893"/>
          </a:xfrm>
          <a:prstGeom prst="blockArc">
            <a:avLst>
              <a:gd fmla="val 10775459" name="adj1"/>
              <a:gd fmla="val 28455" name="adj2"/>
              <a:gd fmla="val 19970" name="adj3"/>
            </a:avLst>
          </a:prstGeom>
          <a:solidFill>
            <a:srgbClr val="FF0000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3"/>
          <p:cNvSpPr/>
          <p:nvPr/>
        </p:nvSpPr>
        <p:spPr>
          <a:xfrm>
            <a:off x="5558027" y="3402057"/>
            <a:ext cx="2773281" cy="25856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3"/>
          <p:cNvSpPr/>
          <p:nvPr/>
        </p:nvSpPr>
        <p:spPr>
          <a:xfrm>
            <a:off x="11608424" y="2159878"/>
            <a:ext cx="207169" cy="209653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75" name="Google Shape;175;p3"/>
          <p:cNvGrpSpPr/>
          <p:nvPr/>
        </p:nvGrpSpPr>
        <p:grpSpPr>
          <a:xfrm>
            <a:off x="323089" y="429459"/>
            <a:ext cx="1879646" cy="1835245"/>
            <a:chOff x="679273" y="4781631"/>
            <a:chExt cx="1879646" cy="1835245"/>
          </a:xfrm>
        </p:grpSpPr>
        <p:sp>
          <p:nvSpPr>
            <p:cNvPr id="176" name="Google Shape;176;p3"/>
            <p:cNvSpPr/>
            <p:nvPr/>
          </p:nvSpPr>
          <p:spPr>
            <a:xfrm>
              <a:off x="679273" y="4781631"/>
              <a:ext cx="1879646" cy="1835245"/>
            </a:xfrm>
            <a:prstGeom prst="donut">
              <a:avLst>
                <a:gd fmla="val 25000" name="adj"/>
              </a:avLst>
            </a:prstGeom>
            <a:solidFill>
              <a:schemeClr val="dk1"/>
            </a:solidFill>
            <a:ln cap="flat" cmpd="sng" w="1270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" name="Google Shape;177;p3"/>
            <p:cNvSpPr/>
            <p:nvPr/>
          </p:nvSpPr>
          <p:spPr>
            <a:xfrm>
              <a:off x="1120713" y="5233851"/>
              <a:ext cx="983782" cy="915593"/>
            </a:xfrm>
            <a:prstGeom prst="ellipse">
              <a:avLst/>
            </a:prstGeom>
            <a:solidFill>
              <a:srgbClr val="AEABAB"/>
            </a:solidFill>
            <a:ln cap="flat" cmpd="sng" w="1270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" name="Google Shape;178;p3"/>
            <p:cNvSpPr/>
            <p:nvPr/>
          </p:nvSpPr>
          <p:spPr>
            <a:xfrm>
              <a:off x="1486618" y="5270809"/>
              <a:ext cx="279148" cy="279148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" name="Google Shape;179;p3"/>
            <p:cNvSpPr/>
            <p:nvPr/>
          </p:nvSpPr>
          <p:spPr>
            <a:xfrm>
              <a:off x="1479522" y="5848892"/>
              <a:ext cx="279148" cy="279148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" name="Google Shape;180;p3"/>
            <p:cNvSpPr/>
            <p:nvPr/>
          </p:nvSpPr>
          <p:spPr>
            <a:xfrm>
              <a:off x="1143994" y="5567751"/>
              <a:ext cx="279148" cy="279148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" name="Google Shape;181;p3"/>
            <p:cNvSpPr/>
            <p:nvPr/>
          </p:nvSpPr>
          <p:spPr>
            <a:xfrm>
              <a:off x="1814000" y="5567751"/>
              <a:ext cx="279148" cy="279148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" name="Google Shape;182;p3"/>
            <p:cNvSpPr/>
            <p:nvPr/>
          </p:nvSpPr>
          <p:spPr>
            <a:xfrm>
              <a:off x="1528526" y="5596762"/>
              <a:ext cx="204328" cy="204982"/>
            </a:xfrm>
            <a:prstGeom prst="noSmoking">
              <a:avLst>
                <a:gd fmla="val 18750" name="adj"/>
              </a:avLst>
            </a:prstGeom>
            <a:solidFill>
              <a:schemeClr val="accent1"/>
            </a:solidFill>
            <a:ln cap="flat" cmpd="sng" w="1270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3" name="Google Shape;183;p3"/>
          <p:cNvSpPr/>
          <p:nvPr/>
        </p:nvSpPr>
        <p:spPr>
          <a:xfrm>
            <a:off x="3762099" y="1132885"/>
            <a:ext cx="6441957" cy="265868"/>
          </a:xfrm>
          <a:prstGeom prst="rect">
            <a:avLst/>
          </a:prstGeom>
          <a:solidFill>
            <a:srgbClr val="F4B08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3"/>
          <p:cNvSpPr/>
          <p:nvPr/>
        </p:nvSpPr>
        <p:spPr>
          <a:xfrm>
            <a:off x="5499800" y="1056256"/>
            <a:ext cx="2911730" cy="414228"/>
          </a:xfrm>
          <a:prstGeom prst="rect">
            <a:avLst/>
          </a:prstGeom>
          <a:solidFill>
            <a:srgbClr val="F4B08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3"/>
          <p:cNvSpPr/>
          <p:nvPr/>
        </p:nvSpPr>
        <p:spPr>
          <a:xfrm>
            <a:off x="5887945" y="976298"/>
            <a:ext cx="2106986" cy="587820"/>
          </a:xfrm>
          <a:prstGeom prst="rect">
            <a:avLst/>
          </a:prstGeom>
          <a:solidFill>
            <a:srgbClr val="F4B08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6" name="Google Shape;186;p3"/>
          <p:cNvCxnSpPr/>
          <p:nvPr/>
        </p:nvCxnSpPr>
        <p:spPr>
          <a:xfrm rot="10800000">
            <a:off x="7993591" y="372725"/>
            <a:ext cx="0" cy="1187257"/>
          </a:xfrm>
          <a:prstGeom prst="straightConnector1">
            <a:avLst/>
          </a:prstGeom>
          <a:noFill/>
          <a:ln cap="flat" cmpd="sng" w="9525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87" name="Google Shape;187;p3"/>
          <p:cNvCxnSpPr/>
          <p:nvPr/>
        </p:nvCxnSpPr>
        <p:spPr>
          <a:xfrm rot="10800000">
            <a:off x="5889867" y="380817"/>
            <a:ext cx="0" cy="1187257"/>
          </a:xfrm>
          <a:prstGeom prst="straightConnector1">
            <a:avLst/>
          </a:prstGeom>
          <a:noFill/>
          <a:ln cap="flat" cmpd="sng" w="9525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88" name="Google Shape;188;p3"/>
          <p:cNvCxnSpPr/>
          <p:nvPr/>
        </p:nvCxnSpPr>
        <p:spPr>
          <a:xfrm>
            <a:off x="5899392" y="486093"/>
            <a:ext cx="2092860" cy="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sp>
        <p:nvSpPr>
          <p:cNvPr id="189" name="Google Shape;189;p3"/>
          <p:cNvSpPr/>
          <p:nvPr/>
        </p:nvSpPr>
        <p:spPr>
          <a:xfrm>
            <a:off x="6744824" y="254154"/>
            <a:ext cx="385026" cy="25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28</a:t>
            </a:r>
            <a:endParaRPr/>
          </a:p>
        </p:txBody>
      </p:sp>
      <p:cxnSp>
        <p:nvCxnSpPr>
          <p:cNvPr id="190" name="Google Shape;190;p3"/>
          <p:cNvCxnSpPr>
            <a:stCxn id="185" idx="0"/>
            <a:endCxn id="185" idx="2"/>
          </p:cNvCxnSpPr>
          <p:nvPr/>
        </p:nvCxnSpPr>
        <p:spPr>
          <a:xfrm>
            <a:off x="6941438" y="976298"/>
            <a:ext cx="0" cy="5877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cxnSp>
        <p:nvCxnSpPr>
          <p:cNvPr id="191" name="Google Shape;191;p3"/>
          <p:cNvCxnSpPr>
            <a:stCxn id="185" idx="0"/>
          </p:cNvCxnSpPr>
          <p:nvPr/>
        </p:nvCxnSpPr>
        <p:spPr>
          <a:xfrm flipH="1">
            <a:off x="6923138" y="976298"/>
            <a:ext cx="18300" cy="12822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92" name="Google Shape;192;p3"/>
          <p:cNvSpPr/>
          <p:nvPr/>
        </p:nvSpPr>
        <p:spPr>
          <a:xfrm>
            <a:off x="6877304" y="1819942"/>
            <a:ext cx="452347" cy="25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19</a:t>
            </a:r>
            <a:endParaRPr sz="14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3" name="Google Shape;193;p3"/>
          <p:cNvCxnSpPr/>
          <p:nvPr/>
        </p:nvCxnSpPr>
        <p:spPr>
          <a:xfrm>
            <a:off x="8307202" y="1063102"/>
            <a:ext cx="0" cy="407382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cxnSp>
        <p:nvCxnSpPr>
          <p:cNvPr id="194" name="Google Shape;194;p3"/>
          <p:cNvCxnSpPr/>
          <p:nvPr/>
        </p:nvCxnSpPr>
        <p:spPr>
          <a:xfrm>
            <a:off x="8307202" y="1063102"/>
            <a:ext cx="0" cy="920781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95" name="Google Shape;195;p3"/>
          <p:cNvSpPr/>
          <p:nvPr/>
        </p:nvSpPr>
        <p:spPr>
          <a:xfrm>
            <a:off x="8276525" y="1667779"/>
            <a:ext cx="452347" cy="25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 sz="14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6" name="Google Shape;196;p3"/>
          <p:cNvCxnSpPr/>
          <p:nvPr/>
        </p:nvCxnSpPr>
        <p:spPr>
          <a:xfrm>
            <a:off x="9382913" y="1130416"/>
            <a:ext cx="0" cy="268337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cxnSp>
        <p:nvCxnSpPr>
          <p:cNvPr id="197" name="Google Shape;197;p3"/>
          <p:cNvCxnSpPr/>
          <p:nvPr/>
        </p:nvCxnSpPr>
        <p:spPr>
          <a:xfrm flipH="1">
            <a:off x="9374821" y="1130416"/>
            <a:ext cx="8092" cy="604935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98" name="Google Shape;198;p3"/>
          <p:cNvSpPr/>
          <p:nvPr/>
        </p:nvSpPr>
        <p:spPr>
          <a:xfrm>
            <a:off x="9336052" y="1484241"/>
            <a:ext cx="452347" cy="25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sz="14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9" name="Google Shape;199;p3"/>
          <p:cNvCxnSpPr/>
          <p:nvPr/>
        </p:nvCxnSpPr>
        <p:spPr>
          <a:xfrm flipH="1" rot="10800000">
            <a:off x="8411573" y="380817"/>
            <a:ext cx="5391" cy="1103424"/>
          </a:xfrm>
          <a:prstGeom prst="straightConnector1">
            <a:avLst/>
          </a:prstGeom>
          <a:noFill/>
          <a:ln cap="flat" cmpd="sng" w="9525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00" name="Google Shape;200;p3"/>
          <p:cNvCxnSpPr/>
          <p:nvPr/>
        </p:nvCxnSpPr>
        <p:spPr>
          <a:xfrm flipH="1" rot="10800000">
            <a:off x="10201361" y="380817"/>
            <a:ext cx="13625" cy="1017936"/>
          </a:xfrm>
          <a:prstGeom prst="straightConnector1">
            <a:avLst/>
          </a:prstGeom>
          <a:noFill/>
          <a:ln cap="flat" cmpd="sng" w="9525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01" name="Google Shape;201;p3"/>
          <p:cNvCxnSpPr/>
          <p:nvPr/>
        </p:nvCxnSpPr>
        <p:spPr>
          <a:xfrm>
            <a:off x="8008424" y="484951"/>
            <a:ext cx="392088" cy="571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cxnSp>
        <p:nvCxnSpPr>
          <p:cNvPr id="202" name="Google Shape;202;p3"/>
          <p:cNvCxnSpPr/>
          <p:nvPr/>
        </p:nvCxnSpPr>
        <p:spPr>
          <a:xfrm>
            <a:off x="8416964" y="484951"/>
            <a:ext cx="1798022" cy="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sp>
        <p:nvSpPr>
          <p:cNvPr id="203" name="Google Shape;203;p3"/>
          <p:cNvSpPr/>
          <p:nvPr/>
        </p:nvSpPr>
        <p:spPr>
          <a:xfrm>
            <a:off x="5813212" y="974445"/>
            <a:ext cx="74733" cy="5303261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4" name="Google Shape;204;p3"/>
          <p:cNvCxnSpPr/>
          <p:nvPr/>
        </p:nvCxnSpPr>
        <p:spPr>
          <a:xfrm rot="10800000">
            <a:off x="9562225" y="1187060"/>
            <a:ext cx="639136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dash"/>
            <a:miter lim="800000"/>
            <a:headEnd len="sm" w="sm" type="none"/>
            <a:tailEnd len="sm" w="sm" type="none"/>
          </a:ln>
        </p:spPr>
      </p:cxnSp>
      <p:cxnSp>
        <p:nvCxnSpPr>
          <p:cNvPr id="205" name="Google Shape;205;p3"/>
          <p:cNvCxnSpPr/>
          <p:nvPr/>
        </p:nvCxnSpPr>
        <p:spPr>
          <a:xfrm rot="10800000">
            <a:off x="9562225" y="1331368"/>
            <a:ext cx="639136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dash"/>
            <a:miter lim="800000"/>
            <a:headEnd len="sm" w="sm" type="none"/>
            <a:tailEnd len="sm" w="sm" type="none"/>
          </a:ln>
        </p:spPr>
      </p:cxnSp>
      <p:cxnSp>
        <p:nvCxnSpPr>
          <p:cNvPr id="206" name="Google Shape;206;p3"/>
          <p:cNvCxnSpPr/>
          <p:nvPr/>
        </p:nvCxnSpPr>
        <p:spPr>
          <a:xfrm rot="10800000">
            <a:off x="9562225" y="1187060"/>
            <a:ext cx="0" cy="144308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dash"/>
            <a:miter lim="800000"/>
            <a:headEnd len="sm" w="sm" type="none"/>
            <a:tailEnd len="sm" w="sm" type="none"/>
          </a:ln>
        </p:spPr>
      </p:cxnSp>
      <p:cxnSp>
        <p:nvCxnSpPr>
          <p:cNvPr id="207" name="Google Shape;207;p3"/>
          <p:cNvCxnSpPr>
            <a:endCxn id="183" idx="3"/>
          </p:cNvCxnSpPr>
          <p:nvPr/>
        </p:nvCxnSpPr>
        <p:spPr>
          <a:xfrm rot="10800000">
            <a:off x="10204056" y="1265819"/>
            <a:ext cx="1404300" cy="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08" name="Google Shape;208;p3"/>
          <p:cNvSpPr/>
          <p:nvPr/>
        </p:nvSpPr>
        <p:spPr>
          <a:xfrm>
            <a:off x="10418202" y="1091411"/>
            <a:ext cx="1324812" cy="3308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Threaded channel for M4 screw</a:t>
            </a:r>
            <a:endParaRPr/>
          </a:p>
        </p:txBody>
      </p:sp>
      <p:cxnSp>
        <p:nvCxnSpPr>
          <p:cNvPr id="209" name="Google Shape;209;p3"/>
          <p:cNvCxnSpPr/>
          <p:nvPr/>
        </p:nvCxnSpPr>
        <p:spPr>
          <a:xfrm rot="10800000">
            <a:off x="3762099" y="1189986"/>
            <a:ext cx="639136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dash"/>
            <a:miter lim="800000"/>
            <a:headEnd len="sm" w="sm" type="none"/>
            <a:tailEnd len="sm" w="sm" type="none"/>
          </a:ln>
        </p:spPr>
      </p:cxnSp>
      <p:cxnSp>
        <p:nvCxnSpPr>
          <p:cNvPr id="210" name="Google Shape;210;p3"/>
          <p:cNvCxnSpPr/>
          <p:nvPr/>
        </p:nvCxnSpPr>
        <p:spPr>
          <a:xfrm rot="10800000">
            <a:off x="3762099" y="1334294"/>
            <a:ext cx="639136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dash"/>
            <a:miter lim="800000"/>
            <a:headEnd len="sm" w="sm" type="none"/>
            <a:tailEnd len="sm" w="sm" type="none"/>
          </a:ln>
        </p:spPr>
      </p:cxnSp>
      <p:cxnSp>
        <p:nvCxnSpPr>
          <p:cNvPr id="211" name="Google Shape;211;p3"/>
          <p:cNvCxnSpPr/>
          <p:nvPr/>
        </p:nvCxnSpPr>
        <p:spPr>
          <a:xfrm rot="10800000">
            <a:off x="4425643" y="1189986"/>
            <a:ext cx="0" cy="144308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dash"/>
            <a:miter lim="800000"/>
            <a:headEnd len="sm" w="sm" type="none"/>
            <a:tailEnd len="sm" w="sm" type="none"/>
          </a:ln>
        </p:spPr>
      </p:cxnSp>
      <p:cxnSp>
        <p:nvCxnSpPr>
          <p:cNvPr id="212" name="Google Shape;212;p3"/>
          <p:cNvCxnSpPr/>
          <p:nvPr/>
        </p:nvCxnSpPr>
        <p:spPr>
          <a:xfrm flipH="1" rot="10800000">
            <a:off x="3202537" y="1449572"/>
            <a:ext cx="951073" cy="505747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13" name="Google Shape;213;p3"/>
          <p:cNvSpPr/>
          <p:nvPr/>
        </p:nvSpPr>
        <p:spPr>
          <a:xfrm>
            <a:off x="2008174" y="1884294"/>
            <a:ext cx="1746899" cy="5549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Seating positions ("half-axles") for 4 wheels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 on each side</a:t>
            </a:r>
            <a:endParaRPr/>
          </a:p>
        </p:txBody>
      </p:sp>
      <p:cxnSp>
        <p:nvCxnSpPr>
          <p:cNvPr id="214" name="Google Shape;214;p3"/>
          <p:cNvCxnSpPr/>
          <p:nvPr/>
        </p:nvCxnSpPr>
        <p:spPr>
          <a:xfrm rot="10800000">
            <a:off x="9945499" y="1410153"/>
            <a:ext cx="1379639" cy="285564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15" name="Google Shape;215;p3"/>
          <p:cNvSpPr/>
          <p:nvPr/>
        </p:nvSpPr>
        <p:spPr>
          <a:xfrm>
            <a:off x="5893964" y="2338405"/>
            <a:ext cx="2113583" cy="1019790"/>
          </a:xfrm>
          <a:prstGeom prst="rect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6" name="Google Shape;216;p3"/>
          <p:cNvCxnSpPr/>
          <p:nvPr/>
        </p:nvCxnSpPr>
        <p:spPr>
          <a:xfrm rot="10800000">
            <a:off x="7831916" y="2415340"/>
            <a:ext cx="1956483" cy="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17" name="Google Shape;217;p3"/>
          <p:cNvSpPr/>
          <p:nvPr/>
        </p:nvSpPr>
        <p:spPr>
          <a:xfrm>
            <a:off x="8046061" y="2240932"/>
            <a:ext cx="1862845" cy="3308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Magnetic coil mounting assembly</a:t>
            </a:r>
            <a:endParaRPr/>
          </a:p>
        </p:txBody>
      </p:sp>
      <p:cxnSp>
        <p:nvCxnSpPr>
          <p:cNvPr id="218" name="Google Shape;218;p3"/>
          <p:cNvCxnSpPr/>
          <p:nvPr/>
        </p:nvCxnSpPr>
        <p:spPr>
          <a:xfrm>
            <a:off x="3867993" y="2508425"/>
            <a:ext cx="1961404" cy="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19" name="Google Shape;219;p3"/>
          <p:cNvSpPr/>
          <p:nvPr/>
        </p:nvSpPr>
        <p:spPr>
          <a:xfrm>
            <a:off x="3762100" y="2164085"/>
            <a:ext cx="1919612" cy="4920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Brackets for holding the roller axis - 3 mm thick</a:t>
            </a:r>
            <a:endParaRPr/>
          </a:p>
        </p:txBody>
      </p:sp>
      <p:cxnSp>
        <p:nvCxnSpPr>
          <p:cNvPr id="220" name="Google Shape;220;p3"/>
          <p:cNvCxnSpPr/>
          <p:nvPr/>
        </p:nvCxnSpPr>
        <p:spPr>
          <a:xfrm>
            <a:off x="3118881" y="913726"/>
            <a:ext cx="592949" cy="330864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21" name="Google Shape;221;p3"/>
          <p:cNvSpPr/>
          <p:nvPr/>
        </p:nvSpPr>
        <p:spPr>
          <a:xfrm>
            <a:off x="2031110" y="480487"/>
            <a:ext cx="1879646" cy="44204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Shaft (B) of the protective roller - </a:t>
            </a:r>
            <a:r>
              <a:rPr lang="uk-UA" sz="1200" u="sng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to be manufactured</a:t>
            </a:r>
            <a:endParaRPr/>
          </a:p>
        </p:txBody>
      </p:sp>
      <p:sp>
        <p:nvSpPr>
          <p:cNvPr id="222" name="Google Shape;222;p3"/>
          <p:cNvSpPr/>
          <p:nvPr/>
        </p:nvSpPr>
        <p:spPr>
          <a:xfrm>
            <a:off x="6371833" y="3358195"/>
            <a:ext cx="1217659" cy="631178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3"/>
          <p:cNvSpPr/>
          <p:nvPr/>
        </p:nvSpPr>
        <p:spPr>
          <a:xfrm>
            <a:off x="6371834" y="3989372"/>
            <a:ext cx="1217658" cy="2868627"/>
          </a:xfrm>
          <a:prstGeom prst="rect">
            <a:avLst/>
          </a:prstGeom>
          <a:solidFill>
            <a:srgbClr val="AEABA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3"/>
          <p:cNvSpPr/>
          <p:nvPr/>
        </p:nvSpPr>
        <p:spPr>
          <a:xfrm>
            <a:off x="5886311" y="4393975"/>
            <a:ext cx="2110415" cy="2089508"/>
          </a:xfrm>
          <a:prstGeom prst="rect">
            <a:avLst/>
          </a:prstGeom>
          <a:solidFill>
            <a:srgbClr val="7F6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25" name="Google Shape;225;p3"/>
          <p:cNvGrpSpPr/>
          <p:nvPr/>
        </p:nvGrpSpPr>
        <p:grpSpPr>
          <a:xfrm>
            <a:off x="5191803" y="2587674"/>
            <a:ext cx="626218" cy="749617"/>
            <a:chOff x="5203179" y="2652437"/>
            <a:chExt cx="626218" cy="749617"/>
          </a:xfrm>
        </p:grpSpPr>
        <p:sp>
          <p:nvSpPr>
            <p:cNvPr id="226" name="Google Shape;226;p3"/>
            <p:cNvSpPr/>
            <p:nvPr/>
          </p:nvSpPr>
          <p:spPr>
            <a:xfrm>
              <a:off x="5558027" y="2921225"/>
              <a:ext cx="271370" cy="22331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7" name="Google Shape;227;p3"/>
            <p:cNvSpPr/>
            <p:nvPr/>
          </p:nvSpPr>
          <p:spPr>
            <a:xfrm>
              <a:off x="5203179" y="2652437"/>
              <a:ext cx="354848" cy="749617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8" name="Google Shape;228;p3"/>
          <p:cNvGrpSpPr/>
          <p:nvPr/>
        </p:nvGrpSpPr>
        <p:grpSpPr>
          <a:xfrm rot="10800000">
            <a:off x="8058618" y="2614519"/>
            <a:ext cx="626218" cy="749617"/>
            <a:chOff x="5203179" y="2652437"/>
            <a:chExt cx="626218" cy="749617"/>
          </a:xfrm>
        </p:grpSpPr>
        <p:sp>
          <p:nvSpPr>
            <p:cNvPr id="229" name="Google Shape;229;p3"/>
            <p:cNvSpPr/>
            <p:nvPr/>
          </p:nvSpPr>
          <p:spPr>
            <a:xfrm>
              <a:off x="5558027" y="2921225"/>
              <a:ext cx="271370" cy="22331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0" name="Google Shape;230;p3"/>
            <p:cNvSpPr/>
            <p:nvPr/>
          </p:nvSpPr>
          <p:spPr>
            <a:xfrm>
              <a:off x="5203179" y="2652437"/>
              <a:ext cx="354848" cy="749617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231" name="Google Shape;231;p3"/>
          <p:cNvCxnSpPr/>
          <p:nvPr/>
        </p:nvCxnSpPr>
        <p:spPr>
          <a:xfrm rot="10800000">
            <a:off x="8682115" y="3263414"/>
            <a:ext cx="1877991" cy="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32" name="Google Shape;232;p3"/>
          <p:cNvSpPr/>
          <p:nvPr/>
        </p:nvSpPr>
        <p:spPr>
          <a:xfrm>
            <a:off x="8863892" y="3072822"/>
            <a:ext cx="1862845" cy="54431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Screws (axis) for fixing the position of the mine detector relative to the stem of the detector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3" name="Google Shape;233;p3"/>
          <p:cNvCxnSpPr/>
          <p:nvPr/>
        </p:nvCxnSpPr>
        <p:spPr>
          <a:xfrm rot="10800000">
            <a:off x="5866726" y="4822307"/>
            <a:ext cx="2121908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dash"/>
            <a:miter lim="800000"/>
            <a:headEnd len="sm" w="sm" type="none"/>
            <a:tailEnd len="sm" w="sm" type="none"/>
          </a:ln>
        </p:spPr>
      </p:cxnSp>
      <p:cxnSp>
        <p:nvCxnSpPr>
          <p:cNvPr id="234" name="Google Shape;234;p3"/>
          <p:cNvCxnSpPr/>
          <p:nvPr/>
        </p:nvCxnSpPr>
        <p:spPr>
          <a:xfrm rot="10800000">
            <a:off x="5882910" y="4966615"/>
            <a:ext cx="2100253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dash"/>
            <a:miter lim="800000"/>
            <a:headEnd len="sm" w="sm" type="none"/>
            <a:tailEnd len="sm" w="sm" type="none"/>
          </a:ln>
        </p:spPr>
      </p:cxnSp>
      <p:cxnSp>
        <p:nvCxnSpPr>
          <p:cNvPr id="235" name="Google Shape;235;p3"/>
          <p:cNvCxnSpPr/>
          <p:nvPr/>
        </p:nvCxnSpPr>
        <p:spPr>
          <a:xfrm rot="10800000">
            <a:off x="6817334" y="4966615"/>
            <a:ext cx="59970" cy="294021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36" name="Google Shape;236;p3"/>
          <p:cNvSpPr/>
          <p:nvPr/>
        </p:nvSpPr>
        <p:spPr>
          <a:xfrm>
            <a:off x="5910562" y="5243858"/>
            <a:ext cx="2170255" cy="3308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Through holes M4 for screw fastening of parts</a:t>
            </a:r>
            <a:endParaRPr/>
          </a:p>
        </p:txBody>
      </p:sp>
      <p:cxnSp>
        <p:nvCxnSpPr>
          <p:cNvPr id="237" name="Google Shape;237;p3"/>
          <p:cNvCxnSpPr/>
          <p:nvPr/>
        </p:nvCxnSpPr>
        <p:spPr>
          <a:xfrm>
            <a:off x="741028" y="6471593"/>
            <a:ext cx="7263790" cy="11890"/>
          </a:xfrm>
          <a:prstGeom prst="straightConnector1">
            <a:avLst/>
          </a:prstGeom>
          <a:noFill/>
          <a:ln cap="flat" cmpd="sng" w="9525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38" name="Google Shape;238;p3"/>
          <p:cNvCxnSpPr/>
          <p:nvPr/>
        </p:nvCxnSpPr>
        <p:spPr>
          <a:xfrm>
            <a:off x="907235" y="4426343"/>
            <a:ext cx="0" cy="2053342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cxnSp>
        <p:nvCxnSpPr>
          <p:cNvPr id="239" name="Google Shape;239;p3"/>
          <p:cNvCxnSpPr/>
          <p:nvPr/>
        </p:nvCxnSpPr>
        <p:spPr>
          <a:xfrm flipH="1">
            <a:off x="687823" y="4392586"/>
            <a:ext cx="7303432" cy="25665"/>
          </a:xfrm>
          <a:prstGeom prst="straightConnector1">
            <a:avLst/>
          </a:prstGeom>
          <a:noFill/>
          <a:ln cap="flat" cmpd="sng" w="9525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40" name="Google Shape;240;p3"/>
          <p:cNvSpPr/>
          <p:nvPr/>
        </p:nvSpPr>
        <p:spPr>
          <a:xfrm>
            <a:off x="897164" y="5391311"/>
            <a:ext cx="560649" cy="25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215</a:t>
            </a:r>
            <a:endParaRPr sz="14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1" name="Google Shape;241;p3"/>
          <p:cNvCxnSpPr/>
          <p:nvPr/>
        </p:nvCxnSpPr>
        <p:spPr>
          <a:xfrm rot="10800000">
            <a:off x="5866726" y="5843373"/>
            <a:ext cx="2121908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dash"/>
            <a:miter lim="800000"/>
            <a:headEnd len="sm" w="sm" type="none"/>
            <a:tailEnd len="sm" w="sm" type="none"/>
          </a:ln>
        </p:spPr>
      </p:cxnSp>
      <p:cxnSp>
        <p:nvCxnSpPr>
          <p:cNvPr id="242" name="Google Shape;242;p3"/>
          <p:cNvCxnSpPr/>
          <p:nvPr/>
        </p:nvCxnSpPr>
        <p:spPr>
          <a:xfrm rot="10800000">
            <a:off x="5882910" y="5987681"/>
            <a:ext cx="2100253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dash"/>
            <a:miter lim="800000"/>
            <a:headEnd len="sm" w="sm" type="none"/>
            <a:tailEnd len="sm" w="sm" type="none"/>
          </a:ln>
        </p:spPr>
      </p:cxnSp>
      <p:cxnSp>
        <p:nvCxnSpPr>
          <p:cNvPr id="243" name="Google Shape;243;p3"/>
          <p:cNvCxnSpPr/>
          <p:nvPr/>
        </p:nvCxnSpPr>
        <p:spPr>
          <a:xfrm>
            <a:off x="6923254" y="5591500"/>
            <a:ext cx="46480" cy="251873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44" name="Google Shape;244;p3"/>
          <p:cNvSpPr/>
          <p:nvPr/>
        </p:nvSpPr>
        <p:spPr>
          <a:xfrm>
            <a:off x="8021484" y="256150"/>
            <a:ext cx="452347" cy="25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  <p:sp>
        <p:nvSpPr>
          <p:cNvPr id="245" name="Google Shape;245;p3"/>
          <p:cNvSpPr/>
          <p:nvPr/>
        </p:nvSpPr>
        <p:spPr>
          <a:xfrm>
            <a:off x="9091589" y="249689"/>
            <a:ext cx="452347" cy="25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81</a:t>
            </a:r>
            <a:endParaRPr sz="14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6" name="Google Shape;246;p3"/>
          <p:cNvCxnSpPr/>
          <p:nvPr/>
        </p:nvCxnSpPr>
        <p:spPr>
          <a:xfrm rot="10800000">
            <a:off x="5500856" y="372725"/>
            <a:ext cx="0" cy="1085623"/>
          </a:xfrm>
          <a:prstGeom prst="straightConnector1">
            <a:avLst/>
          </a:prstGeom>
          <a:noFill/>
          <a:ln cap="flat" cmpd="sng" w="9525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47" name="Google Shape;247;p3"/>
          <p:cNvCxnSpPr/>
          <p:nvPr/>
        </p:nvCxnSpPr>
        <p:spPr>
          <a:xfrm>
            <a:off x="5508224" y="490355"/>
            <a:ext cx="371256" cy="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sp>
        <p:nvSpPr>
          <p:cNvPr id="248" name="Google Shape;248;p3"/>
          <p:cNvSpPr/>
          <p:nvPr/>
        </p:nvSpPr>
        <p:spPr>
          <a:xfrm>
            <a:off x="5496377" y="280292"/>
            <a:ext cx="385025" cy="25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  <p:cxnSp>
        <p:nvCxnSpPr>
          <p:cNvPr id="249" name="Google Shape;249;p3"/>
          <p:cNvCxnSpPr/>
          <p:nvPr/>
        </p:nvCxnSpPr>
        <p:spPr>
          <a:xfrm>
            <a:off x="3781801" y="492674"/>
            <a:ext cx="1708814" cy="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sp>
        <p:nvSpPr>
          <p:cNvPr id="250" name="Google Shape;250;p3"/>
          <p:cNvSpPr/>
          <p:nvPr/>
        </p:nvSpPr>
        <p:spPr>
          <a:xfrm>
            <a:off x="4362138" y="247252"/>
            <a:ext cx="452347" cy="25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81</a:t>
            </a:r>
            <a:endParaRPr sz="14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1" name="Google Shape;251;p3"/>
          <p:cNvCxnSpPr/>
          <p:nvPr/>
        </p:nvCxnSpPr>
        <p:spPr>
          <a:xfrm flipH="1" rot="10800000">
            <a:off x="3758016" y="421004"/>
            <a:ext cx="13625" cy="1017936"/>
          </a:xfrm>
          <a:prstGeom prst="straightConnector1">
            <a:avLst/>
          </a:prstGeom>
          <a:noFill/>
          <a:ln cap="flat" cmpd="sng" w="9525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52" name="Google Shape;252;p3"/>
          <p:cNvSpPr/>
          <p:nvPr/>
        </p:nvSpPr>
        <p:spPr>
          <a:xfrm>
            <a:off x="7997274" y="974445"/>
            <a:ext cx="74733" cy="5303261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3"/>
          <p:cNvSpPr/>
          <p:nvPr/>
        </p:nvSpPr>
        <p:spPr>
          <a:xfrm>
            <a:off x="10973745" y="4290953"/>
            <a:ext cx="809675" cy="2096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Textolite</a:t>
            </a:r>
            <a:endParaRPr/>
          </a:p>
        </p:txBody>
      </p:sp>
      <p:cxnSp>
        <p:nvCxnSpPr>
          <p:cNvPr id="254" name="Google Shape;254;p3"/>
          <p:cNvCxnSpPr/>
          <p:nvPr/>
        </p:nvCxnSpPr>
        <p:spPr>
          <a:xfrm rot="10800000">
            <a:off x="8083714" y="3263414"/>
            <a:ext cx="3330989" cy="2206745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55" name="Google Shape;255;p3"/>
          <p:cNvSpPr/>
          <p:nvPr/>
        </p:nvSpPr>
        <p:spPr>
          <a:xfrm>
            <a:off x="10726738" y="5495319"/>
            <a:ext cx="1146248" cy="2096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Fiberglass</a:t>
            </a:r>
            <a:endParaRPr/>
          </a:p>
        </p:txBody>
      </p:sp>
      <p:cxnSp>
        <p:nvCxnSpPr>
          <p:cNvPr id="256" name="Google Shape;256;p3"/>
          <p:cNvCxnSpPr/>
          <p:nvPr/>
        </p:nvCxnSpPr>
        <p:spPr>
          <a:xfrm>
            <a:off x="2423634" y="5640185"/>
            <a:ext cx="3447569" cy="744407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57" name="Google Shape;257;p3"/>
          <p:cNvSpPr/>
          <p:nvPr/>
        </p:nvSpPr>
        <p:spPr>
          <a:xfrm>
            <a:off x="2199333" y="4922049"/>
            <a:ext cx="1776980" cy="65267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Wooden tunnel cover (A) for the tripod rod of the mine detector - </a:t>
            </a:r>
            <a:r>
              <a:rPr lang="uk-UA" sz="1200" u="sng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to be made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4"/>
          <p:cNvSpPr/>
          <p:nvPr/>
        </p:nvSpPr>
        <p:spPr>
          <a:xfrm>
            <a:off x="6612717" y="408585"/>
            <a:ext cx="3153653" cy="3153653"/>
          </a:xfrm>
          <a:prstGeom prst="ellipse">
            <a:avLst/>
          </a:prstGeom>
          <a:solidFill>
            <a:srgbClr val="F4B081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D=200mm</a:t>
            </a:r>
            <a:endParaRPr/>
          </a:p>
        </p:txBody>
      </p:sp>
      <p:sp>
        <p:nvSpPr>
          <p:cNvPr id="263" name="Google Shape;263;p4"/>
          <p:cNvSpPr txBox="1"/>
          <p:nvPr/>
        </p:nvSpPr>
        <p:spPr>
          <a:xfrm>
            <a:off x="9738121" y="2053056"/>
            <a:ext cx="6319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 pc.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4"/>
          <p:cNvSpPr txBox="1"/>
          <p:nvPr/>
        </p:nvSpPr>
        <p:spPr>
          <a:xfrm>
            <a:off x="9487631" y="253517"/>
            <a:ext cx="2695980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Magnetic coil tray (protection) - textolite 2 mm thick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4"/>
          <p:cNvSpPr txBox="1"/>
          <p:nvPr/>
        </p:nvSpPr>
        <p:spPr>
          <a:xfrm>
            <a:off x="163968" y="33863"/>
            <a:ext cx="351879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brackets are made of fiberglass 4 mm thick.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4"/>
          <p:cNvSpPr/>
          <p:nvPr/>
        </p:nvSpPr>
        <p:spPr>
          <a:xfrm>
            <a:off x="1000332" y="2057559"/>
            <a:ext cx="1804626" cy="39873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4"/>
          <p:cNvSpPr/>
          <p:nvPr/>
        </p:nvSpPr>
        <p:spPr>
          <a:xfrm rot="-1942923">
            <a:off x="2447146" y="1202061"/>
            <a:ext cx="3112502" cy="45201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8" name="Google Shape;268;p4"/>
          <p:cNvCxnSpPr/>
          <p:nvPr/>
        </p:nvCxnSpPr>
        <p:spPr>
          <a:xfrm flipH="1" rot="10800000">
            <a:off x="2835438" y="845586"/>
            <a:ext cx="2633728" cy="1708415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sp>
        <p:nvSpPr>
          <p:cNvPr id="269" name="Google Shape;269;p4"/>
          <p:cNvSpPr txBox="1"/>
          <p:nvPr/>
        </p:nvSpPr>
        <p:spPr>
          <a:xfrm>
            <a:off x="4108446" y="1637350"/>
            <a:ext cx="73471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200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4"/>
          <p:cNvSpPr/>
          <p:nvPr/>
        </p:nvSpPr>
        <p:spPr>
          <a:xfrm rot="5400000">
            <a:off x="587261" y="2448542"/>
            <a:ext cx="1371443" cy="5894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1" name="Google Shape;271;p4"/>
          <p:cNvCxnSpPr/>
          <p:nvPr/>
        </p:nvCxnSpPr>
        <p:spPr>
          <a:xfrm>
            <a:off x="1000332" y="2554001"/>
            <a:ext cx="1835106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cxnSp>
        <p:nvCxnSpPr>
          <p:cNvPr id="272" name="Google Shape;272;p4"/>
          <p:cNvCxnSpPr/>
          <p:nvPr/>
        </p:nvCxnSpPr>
        <p:spPr>
          <a:xfrm>
            <a:off x="865212" y="2057557"/>
            <a:ext cx="0" cy="1367871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sp>
        <p:nvSpPr>
          <p:cNvPr id="273" name="Google Shape;273;p4"/>
          <p:cNvSpPr txBox="1"/>
          <p:nvPr/>
        </p:nvSpPr>
        <p:spPr>
          <a:xfrm>
            <a:off x="544301" y="2369335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80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4"/>
          <p:cNvSpPr txBox="1"/>
          <p:nvPr/>
        </p:nvSpPr>
        <p:spPr>
          <a:xfrm>
            <a:off x="1650707" y="2458416"/>
            <a:ext cx="53572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120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5" name="Google Shape;275;p4"/>
          <p:cNvCxnSpPr/>
          <p:nvPr/>
        </p:nvCxnSpPr>
        <p:spPr>
          <a:xfrm>
            <a:off x="2095685" y="2057557"/>
            <a:ext cx="0" cy="398739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sp>
        <p:nvSpPr>
          <p:cNvPr id="276" name="Google Shape;276;p4"/>
          <p:cNvSpPr txBox="1"/>
          <p:nvPr/>
        </p:nvSpPr>
        <p:spPr>
          <a:xfrm>
            <a:off x="2031107" y="2049820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30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4"/>
          <p:cNvSpPr txBox="1"/>
          <p:nvPr/>
        </p:nvSpPr>
        <p:spPr>
          <a:xfrm>
            <a:off x="1833258" y="1365007"/>
            <a:ext cx="90231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∠ </a:t>
            </a:r>
            <a:r>
              <a:rPr b="0" i="0" lang="uk-UA" sz="1800">
                <a:solidFill>
                  <a:srgbClr val="505050"/>
                </a:solidFill>
                <a:latin typeface="Merriweather"/>
                <a:ea typeface="Merriweather"/>
                <a:cs typeface="Merriweather"/>
                <a:sym typeface="Merriweather"/>
              </a:rPr>
              <a:t>150° </a:t>
            </a:r>
            <a:endParaRPr/>
          </a:p>
        </p:txBody>
      </p:sp>
      <p:cxnSp>
        <p:nvCxnSpPr>
          <p:cNvPr id="278" name="Google Shape;278;p4"/>
          <p:cNvCxnSpPr>
            <a:stCxn id="277" idx="2"/>
          </p:cNvCxnSpPr>
          <p:nvPr/>
        </p:nvCxnSpPr>
        <p:spPr>
          <a:xfrm>
            <a:off x="2284414" y="1734339"/>
            <a:ext cx="267300" cy="2724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79" name="Google Shape;279;p4"/>
          <p:cNvSpPr txBox="1"/>
          <p:nvPr/>
        </p:nvSpPr>
        <p:spPr>
          <a:xfrm>
            <a:off x="2529104" y="2956949"/>
            <a:ext cx="66082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 pc.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0" name="Google Shape;280;p4"/>
          <p:cNvCxnSpPr/>
          <p:nvPr/>
        </p:nvCxnSpPr>
        <p:spPr>
          <a:xfrm>
            <a:off x="1000332" y="3479382"/>
            <a:ext cx="567389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sp>
        <p:nvSpPr>
          <p:cNvPr id="281" name="Google Shape;281;p4"/>
          <p:cNvSpPr txBox="1"/>
          <p:nvPr/>
        </p:nvSpPr>
        <p:spPr>
          <a:xfrm>
            <a:off x="1080809" y="3425428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4"/>
          <p:cNvSpPr/>
          <p:nvPr/>
        </p:nvSpPr>
        <p:spPr>
          <a:xfrm>
            <a:off x="1133874" y="3009176"/>
            <a:ext cx="283296" cy="283296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3" name="Google Shape;283;p4"/>
          <p:cNvCxnSpPr>
            <a:stCxn id="270" idx="3"/>
          </p:cNvCxnSpPr>
          <p:nvPr/>
        </p:nvCxnSpPr>
        <p:spPr>
          <a:xfrm flipH="1" rot="10800000">
            <a:off x="1272983" y="1901101"/>
            <a:ext cx="11100" cy="1527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84" name="Google Shape;284;p4"/>
          <p:cNvCxnSpPr/>
          <p:nvPr/>
        </p:nvCxnSpPr>
        <p:spPr>
          <a:xfrm>
            <a:off x="978245" y="1967261"/>
            <a:ext cx="305781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sp>
        <p:nvSpPr>
          <p:cNvPr id="285" name="Google Shape;285;p4"/>
          <p:cNvSpPr txBox="1"/>
          <p:nvPr/>
        </p:nvSpPr>
        <p:spPr>
          <a:xfrm>
            <a:off x="932143" y="1662788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6" name="Google Shape;286;p4"/>
          <p:cNvCxnSpPr/>
          <p:nvPr/>
        </p:nvCxnSpPr>
        <p:spPr>
          <a:xfrm>
            <a:off x="978245" y="3147781"/>
            <a:ext cx="589475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87" name="Google Shape;287;p4"/>
          <p:cNvCxnSpPr/>
          <p:nvPr/>
        </p:nvCxnSpPr>
        <p:spPr>
          <a:xfrm>
            <a:off x="1618800" y="3150824"/>
            <a:ext cx="0" cy="274604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sp>
        <p:nvSpPr>
          <p:cNvPr id="288" name="Google Shape;288;p4"/>
          <p:cNvSpPr txBox="1"/>
          <p:nvPr/>
        </p:nvSpPr>
        <p:spPr>
          <a:xfrm>
            <a:off x="1586926" y="3087037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4"/>
          <p:cNvSpPr txBox="1"/>
          <p:nvPr/>
        </p:nvSpPr>
        <p:spPr>
          <a:xfrm>
            <a:off x="962851" y="2704394"/>
            <a:ext cx="65594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d=18</a:t>
            </a:r>
            <a:endParaRPr/>
          </a:p>
        </p:txBody>
      </p:sp>
      <p:sp>
        <p:nvSpPr>
          <p:cNvPr id="290" name="Google Shape;290;p4"/>
          <p:cNvSpPr/>
          <p:nvPr/>
        </p:nvSpPr>
        <p:spPr>
          <a:xfrm>
            <a:off x="2568108" y="2129754"/>
            <a:ext cx="267330" cy="26733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1" name="Google Shape;291;p4"/>
          <p:cNvCxnSpPr/>
          <p:nvPr/>
        </p:nvCxnSpPr>
        <p:spPr>
          <a:xfrm>
            <a:off x="2583348" y="2055441"/>
            <a:ext cx="221610" cy="39696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92" name="Google Shape;292;p4"/>
          <p:cNvCxnSpPr>
            <a:stCxn id="267" idx="3"/>
          </p:cNvCxnSpPr>
          <p:nvPr/>
        </p:nvCxnSpPr>
        <p:spPr>
          <a:xfrm flipH="1">
            <a:off x="2379444" y="594599"/>
            <a:ext cx="2938200" cy="18720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93" name="Google Shape;293;p4"/>
          <p:cNvSpPr txBox="1"/>
          <p:nvPr/>
        </p:nvSpPr>
        <p:spPr>
          <a:xfrm>
            <a:off x="2418079" y="2518721"/>
            <a:ext cx="65594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d=10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4"/>
          <p:cNvSpPr/>
          <p:nvPr/>
        </p:nvSpPr>
        <p:spPr>
          <a:xfrm>
            <a:off x="3601716" y="3797270"/>
            <a:ext cx="1013460" cy="1013460"/>
          </a:xfrm>
          <a:prstGeom prst="donut">
            <a:avLst>
              <a:gd fmla="val 25000" name="adj"/>
            </a:avLst>
          </a:prstGeom>
          <a:solidFill>
            <a:srgbClr val="FFC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4"/>
          <p:cNvSpPr txBox="1"/>
          <p:nvPr/>
        </p:nvSpPr>
        <p:spPr>
          <a:xfrm>
            <a:off x="3793333" y="4119334"/>
            <a:ext cx="72326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d=18</a:t>
            </a:r>
            <a:endParaRPr/>
          </a:p>
        </p:txBody>
      </p:sp>
      <p:sp>
        <p:nvSpPr>
          <p:cNvPr id="296" name="Google Shape;296;p4"/>
          <p:cNvSpPr txBox="1"/>
          <p:nvPr/>
        </p:nvSpPr>
        <p:spPr>
          <a:xfrm>
            <a:off x="3793333" y="4768974"/>
            <a:ext cx="72326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D=20</a:t>
            </a:r>
            <a:endParaRPr/>
          </a:p>
        </p:txBody>
      </p:sp>
      <p:sp>
        <p:nvSpPr>
          <p:cNvPr id="297" name="Google Shape;297;p4"/>
          <p:cNvSpPr txBox="1"/>
          <p:nvPr/>
        </p:nvSpPr>
        <p:spPr>
          <a:xfrm>
            <a:off x="3823474" y="5357136"/>
            <a:ext cx="66082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 pc.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4"/>
          <p:cNvSpPr/>
          <p:nvPr/>
        </p:nvSpPr>
        <p:spPr>
          <a:xfrm>
            <a:off x="5012262" y="3797270"/>
            <a:ext cx="1013460" cy="1013460"/>
          </a:xfrm>
          <a:prstGeom prst="donut">
            <a:avLst>
              <a:gd fmla="val 25000" name="adj"/>
            </a:avLst>
          </a:prstGeom>
          <a:solidFill>
            <a:srgbClr val="FFC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4"/>
          <p:cNvSpPr txBox="1"/>
          <p:nvPr/>
        </p:nvSpPr>
        <p:spPr>
          <a:xfrm>
            <a:off x="5203879" y="4119334"/>
            <a:ext cx="72326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d=17</a:t>
            </a:r>
            <a:endParaRPr/>
          </a:p>
        </p:txBody>
      </p:sp>
      <p:sp>
        <p:nvSpPr>
          <p:cNvPr id="300" name="Google Shape;300;p4"/>
          <p:cNvSpPr txBox="1"/>
          <p:nvPr/>
        </p:nvSpPr>
        <p:spPr>
          <a:xfrm>
            <a:off x="5203879" y="4768974"/>
            <a:ext cx="72326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D=20</a:t>
            </a:r>
            <a:endParaRPr/>
          </a:p>
        </p:txBody>
      </p:sp>
      <p:sp>
        <p:nvSpPr>
          <p:cNvPr id="301" name="Google Shape;301;p4"/>
          <p:cNvSpPr txBox="1"/>
          <p:nvPr/>
        </p:nvSpPr>
        <p:spPr>
          <a:xfrm>
            <a:off x="5203879" y="5357136"/>
            <a:ext cx="77784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 pc.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2" name="Google Shape;302;p4"/>
          <p:cNvCxnSpPr/>
          <p:nvPr/>
        </p:nvCxnSpPr>
        <p:spPr>
          <a:xfrm rot="10800000">
            <a:off x="978245" y="2264054"/>
            <a:ext cx="2095783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03" name="Google Shape;303;p4"/>
          <p:cNvCxnSpPr/>
          <p:nvPr/>
        </p:nvCxnSpPr>
        <p:spPr>
          <a:xfrm>
            <a:off x="1287465" y="1966565"/>
            <a:ext cx="280255" cy="696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sp>
        <p:nvSpPr>
          <p:cNvPr id="304" name="Google Shape;304;p4"/>
          <p:cNvSpPr txBox="1"/>
          <p:nvPr/>
        </p:nvSpPr>
        <p:spPr>
          <a:xfrm>
            <a:off x="1227352" y="1666653"/>
            <a:ext cx="44672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5" name="Google Shape;305;p4"/>
          <p:cNvCxnSpPr/>
          <p:nvPr/>
        </p:nvCxnSpPr>
        <p:spPr>
          <a:xfrm>
            <a:off x="1677157" y="2057557"/>
            <a:ext cx="0" cy="196363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sp>
        <p:nvSpPr>
          <p:cNvPr id="306" name="Google Shape;306;p4"/>
          <p:cNvSpPr txBox="1"/>
          <p:nvPr/>
        </p:nvSpPr>
        <p:spPr>
          <a:xfrm>
            <a:off x="1316934" y="1973565"/>
            <a:ext cx="44672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7" name="Google Shape;307;p4"/>
          <p:cNvCxnSpPr/>
          <p:nvPr/>
        </p:nvCxnSpPr>
        <p:spPr>
          <a:xfrm>
            <a:off x="1674077" y="2269134"/>
            <a:ext cx="0" cy="183267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sp>
        <p:nvSpPr>
          <p:cNvPr id="308" name="Google Shape;308;p4"/>
          <p:cNvSpPr txBox="1"/>
          <p:nvPr/>
        </p:nvSpPr>
        <p:spPr>
          <a:xfrm>
            <a:off x="1309774" y="2167030"/>
            <a:ext cx="44672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9" name="Google Shape;309;p4"/>
          <p:cNvCxnSpPr/>
          <p:nvPr/>
        </p:nvCxnSpPr>
        <p:spPr>
          <a:xfrm>
            <a:off x="5100320" y="741680"/>
            <a:ext cx="127000" cy="177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cxnSp>
        <p:nvCxnSpPr>
          <p:cNvPr id="310" name="Google Shape;310;p4"/>
          <p:cNvCxnSpPr/>
          <p:nvPr/>
        </p:nvCxnSpPr>
        <p:spPr>
          <a:xfrm>
            <a:off x="4968240" y="548640"/>
            <a:ext cx="132080" cy="178388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sp>
        <p:nvSpPr>
          <p:cNvPr id="311" name="Google Shape;311;p4"/>
          <p:cNvSpPr txBox="1"/>
          <p:nvPr/>
        </p:nvSpPr>
        <p:spPr>
          <a:xfrm rot="-1935850">
            <a:off x="4825780" y="729400"/>
            <a:ext cx="44672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4"/>
          <p:cNvSpPr txBox="1"/>
          <p:nvPr/>
        </p:nvSpPr>
        <p:spPr>
          <a:xfrm rot="-1935850">
            <a:off x="4690172" y="533361"/>
            <a:ext cx="44672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2023-07-26T18:18:42.0000000Z</dcterms:created>
  <dc:creator>Куждин Александр Александрович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92777a8-4fe1-4bb5-bf8a-dafd6e0db0a2_Enabled">
    <vt:lpwstr>true</vt:lpwstr>
  </property>
  <property fmtid="{D5CDD505-2E9C-101B-9397-08002B2CF9AE}" pid="3" name="MSIP_Label_d92777a8-4fe1-4bb5-bf8a-dafd6e0db0a2_SetDate">
    <vt:lpwstr>2023-07-26T19:29:25Z</vt:lpwstr>
  </property>
  <property fmtid="{D5CDD505-2E9C-101B-9397-08002B2CF9AE}" pid="4" name="MSIP_Label_d92777a8-4fe1-4bb5-bf8a-dafd6e0db0a2_Method">
    <vt:lpwstr>Standard</vt:lpwstr>
  </property>
  <property fmtid="{D5CDD505-2E9C-101B-9397-08002B2CF9AE}" pid="5" name="MSIP_Label_d92777a8-4fe1-4bb5-bf8a-dafd6e0db0a2_Name">
    <vt:lpwstr>Ограниченный доступ</vt:lpwstr>
  </property>
  <property fmtid="{D5CDD505-2E9C-101B-9397-08002B2CF9AE}" pid="6" name="MSIP_Label_d92777a8-4fe1-4bb5-bf8a-dafd6e0db0a2_SiteId">
    <vt:lpwstr>b0bbbc89-2041-434f-8618-bc081a1a01d4</vt:lpwstr>
  </property>
  <property fmtid="{D5CDD505-2E9C-101B-9397-08002B2CF9AE}" pid="7" name="MSIP_Label_d92777a8-4fe1-4bb5-bf8a-dafd6e0db0a2_ActionId">
    <vt:lpwstr>4ab5675f-9c20-4794-bfc8-d0d31521af0d</vt:lpwstr>
  </property>
  <property fmtid="{D5CDD505-2E9C-101B-9397-08002B2CF9AE}" pid="8" name="MSIP_Label_d92777a8-4fe1-4bb5-bf8a-dafd6e0db0a2_ContentBits">
    <vt:lpwstr>0</vt:lpwstr>
  </property>
</Properties>
</file>